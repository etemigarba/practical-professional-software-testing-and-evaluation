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1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2" autoAdjust="0"/>
    <p:restoredTop sz="94610"/>
  </p:normalViewPr>
  <p:slideViewPr>
    <p:cSldViewPr snapToGrid="0" snapToObjects="1">
      <p:cViewPr>
        <p:scale>
          <a:sx n="88" d="100"/>
          <a:sy n="88" d="100"/>
        </p:scale>
        <p:origin x="192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B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0222B"/>
                </a:solidFill>
                <a:latin typeface="Calibri"/>
              </a:rPr>
              <a:t>Example load profile — why the mean lies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rgbClr val="0085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D1-4B9C-B9AB-E5348A9AAE3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CD1-4B9C-B9AB-E5348A9AAE30}"/>
              </c:ext>
            </c:extLst>
          </c:dPt>
          <c:dPt>
            <c:idx val="2"/>
            <c:invertIfNegative val="0"/>
            <c:bubble3D val="0"/>
            <c:spPr>
              <a:solidFill>
                <a:srgbClr val="B581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CD1-4B9C-B9AB-E5348A9AAE30}"/>
              </c:ext>
            </c:extLst>
          </c:dPt>
          <c:dPt>
            <c:idx val="3"/>
            <c:invertIfNegative val="0"/>
            <c:bubble3D val="0"/>
            <c:spPr>
              <a:solidFill>
                <a:srgbClr val="BC45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CD1-4B9C-B9AB-E5348A9AAE30}"/>
              </c:ext>
            </c:extLst>
          </c:dPt>
          <c:dPt>
            <c:idx val="4"/>
            <c:invertIfNegative val="0"/>
            <c:bubble3D val="0"/>
            <c:spPr>
              <a:solidFill>
                <a:srgbClr val="BC45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CD1-4B9C-B9AB-E5348A9AAE3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0222B"/>
                    </a:solidFill>
                    <a:latin typeface="Calibri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p50</c:v>
                </c:pt>
                <c:pt idx="1">
                  <c:v>p90</c:v>
                </c:pt>
                <c:pt idx="2">
                  <c:v>p95</c:v>
                </c:pt>
                <c:pt idx="3">
                  <c:v>p99</c:v>
                </c:pt>
                <c:pt idx="4">
                  <c:v>p99.9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130</c:v>
                </c:pt>
                <c:pt idx="2">
                  <c:v>210</c:v>
                </c:pt>
                <c:pt idx="3">
                  <c:v>640</c:v>
                </c:pt>
                <c:pt idx="4">
                  <c:v>1850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CD1-4B9C-B9AB-E5348A9AAE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404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100"/>
        </c:scaling>
        <c:delete val="0"/>
        <c:axPos val="l"/>
        <c:majorGridlines>
          <c:spPr>
            <a:ln w="12700" cap="flat">
              <a:solidFill>
                <a:srgbClr val="CDD8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376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51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This deck treats testing and security assurance as one discipline, not two. Everything shown is traceable to a published standard or a measured industry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whole course economically. The 2026 IBM figures reverse the 2025 improvement: costs up 12%, detection slower, AI-enabled attacks broken out for the first time at one in four malicious breaches.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security-first is a change of defaults, not an extra stage bolted onto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Parts 1–2 are engineering craft; 3–5 are assurance; 6 is adoption sequencing.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distinction early — it determines who owns each activity and what evidence it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ISO/IEC 25010:2023 is the second edition; it cancels and replaces the 2011 version and is accompanied by ISO/IEC 25002 and 25019. Note Security is a first-class characteristic with resistance newly added as a sub-characteristic.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29119 is contested in agile circles for its weight. The defensible position: adopt its vocabulary and artefact set, scale the depth to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single most useful artefact to produce in week one. It converts a standard into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banding is also how you justify budget. It converts 'we need more QA' into 'these twelve services are critical and currently untested to that standard'.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pages is a strategy; ninety pages is a document that is written once and quietly falsified at audit. Section 9 is the one teams omit and auditors look for first. Accepted risk with a named owner and an expiry date is a mature control; silence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distinction: DoD is per story and non-negotiable; release criteria are per release and may carry documented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counts matter less than the ratio and the runtime. Ask the team for two numbers: median PR pipeline duration and percentage of suite runtime spent in end-to-end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named exception class rather than a bare assert or a generic Exception — the test asserts on the contract, and the second assertion proves the operation was atomic.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to the 2026 reality: LLM-generated tests are syntactically fine and frequently assertion-empty. Mutation testing (next slides) is how you detect it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'don't mock what you don't own' rule: mocking a third-party SDK encodes your belief about its behaviour, which is exactly what you cannot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 tests are the highest-value technique per line of code in security-sensitive parsing and authorisation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Mutation score is the metric to quote when someone claims 90% line coverage. It is the difference between code being executed and behaviour being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Testcontainers has equivalents in Java, .NET, Node, Go, Python and Rust. Pin image tags; ':latest' makes the suite non-reproducible.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two noisiest service boundaries rather than attempting whole-estate coverage. Pact has bindings for Java, JavaScript, .NET, Go, Python and Ruby.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Shard end-to-end runs across workers and record traces on first retry — a trace makes a flake diagnosable instead of merely annoying.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organisational point: quarantine decouples unblocking the team from diagnosing the flake. Teams that insist on diagnosing first pay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framing: the NDPA 2023 with the GAID 2025 directive (effective September 2025) requires documented lawful basis, records of processing and security safeguards. A production data copy in staging is exactly the kind of activity the NDPC asks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 coverage focuses the gate on the code just written, which is where the reviewer's attention already is. That alignment is why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shift-right as legitimate engineering rather than as failure. Some properties are only observable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questions come from Adam Shostack's framing and are echoed in the OWASP Threat Modeling Manifesto. STRIDE maps one-to-one onto security properties, which is what makes it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'404 not 403' detail: returning 403 with a body confirms the resource exists, which is itself an information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10 is an awareness document, not a standard — but auditors and procurement teams use it as a de facto baseline. Test against ASVS; report against the Top 10. A03 has the highest average exploit and impact scores despite the fewest occurrences in testing data — which is why supply-chain assurance gets its own slide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ASVS 5.0 was released live at Global AppSec EU Barcelona in May 2025 and is a substantial restructure — 17 chapters, revised level model, expanded OAuth/OIDC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closing point. Authorisation logic is application-specific and therefore not machine-derivable. It is the highest-value place to spend manual test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pattern addresses A01, the top OWASP risk, and is the highest-return security test a team can adopt in a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Fuzzing and property-based testing are the same idea at different intensities. Atheris and Hypothesis even interoperate.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artefacts answer four different questions and none substitutes for another: SBOM=what, SLSA=how, Sigstore=who, VEX=so what. Note --ignore-scripts: postinstall scripts are a live attack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rules keep gates credible: a blocking gate must be fast enough that nobody wants it removed, and every exception must be granted by a named person with an expiry date recorded in the pipeline. The nightly row is deliberate: expensive, high-value checks that would destroy PR latency belong on a schedule, reported rather than blocking.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matters: automated gates → pen test → disclosure policy → bounty → red team. Teams that invert this order buy expensive reports they cannot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incidents anchor the list: EchoLeak (CVE-2025-32711) for zero-click exfiltration via ASI01, the Amazon Q compromise, and an agent deleting a production database during a code freeze. Traditional SAST and SCA cannot see prompts, memory or inter-agent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teaching points: report percentiles never means, and run the test on every release so you compare against the previous profile rather than against an absolute that drifts.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restoration is the most commonly skipped and most consequential drill. An untested backup is a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honest number: automated tooling catches roughly a third of WCAG success criteria. Claiming compliance from a clean axe run is not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in production is not an excuse for weak pre-production testing; it is the only way to verify properties that emerge from real scale and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stage above is a test; the difference is that the subject is real traffic and the assertion is a telemetry comparison against a control group. Tie back to DORA: throughput without stability is accelerated chaos. Progressive delivery is the structural fix, not more manual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SSDF v1.1 (February 2022) is the version federal attestation references. It arose from Executive Order 14028 and OMB memoranda M-22-18 and M-23-16.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throughput: this ordering typically reduces an unmanageable queue by more than half while raising the proportion of genuinely exploitable issues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 not measure' panel is the one that starts arguments. Hold the line: every one of those three has a documented history of producing the opposite of its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CRA reporting obligations are in force from this week, the practical first step for any product sold into the EU is an accurate SBOM per release and a monitored intake channel. Deliver this slide with the date in mind: CRA Article 14 reporting applies from 11 September 2026 through the ENISA Single Reporting Platform, and it covers legacy products already on the market, not only new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 a quarterly 'evidence drill': pick a release at random and produce the full pack within one working day. It exposes gaps far more cheaply than an audit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 room to nominate which of the nine they currently have. Every organisation has at least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this out. It converts a fifty-slide deck into something a team can act on before the end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sequencing error is starting at months 7–12 — buying a DAST tool and a pen test before the pipeline is fast enough that anyone acts on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point one and point seven — they bracket the whole argument: knowledge is stored in tests, and assurance is a by-product of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read the primary sources rather than secondary summaries — particularly the ASVS requirement text, which is written to be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3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3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53.png"/><Relationship Id="rId5" Type="http://schemas.openxmlformats.org/officeDocument/2006/relationships/image" Target="../media/image6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960120" cy="960120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" y="1290218"/>
            <a:ext cx="537667" cy="5376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128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6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 ·  PROFESSIONAL  ·  ENTERPRISE-GRADE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Testing</a:t>
            </a:r>
            <a:endParaRPr lang="en-US" sz="5400" dirty="0"/>
          </a:p>
          <a:p>
            <a:pPr marL="0" indent="0">
              <a:lnSpc>
                <a:spcPct val="9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Evaluation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443984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security-first playbook built on global best practice — OWASP, NIST SSDF, ISO/IEC 25010 &amp; 29119, SLSA and DORA — for teams shipping software that must not fail.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5046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Etemi Joshua Garba  ·  Abuja, Nigeria  ·  September 2026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006840" y="1188720"/>
            <a:ext cx="2542032" cy="512064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 txBox="1"/>
          <p:nvPr/>
        </p:nvSpPr>
        <p:spPr>
          <a:xfrm>
            <a:off x="9006840" y="1188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006840" y="1847088"/>
            <a:ext cx="2542032" cy="512064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0"/>
          <p:cNvSpPr txBox="1"/>
          <p:nvPr/>
        </p:nvSpPr>
        <p:spPr>
          <a:xfrm>
            <a:off x="9006840" y="1847088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 5.0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006840" y="2505456"/>
            <a:ext cx="2542032" cy="512064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2"/>
          <p:cNvSpPr txBox="1"/>
          <p:nvPr/>
        </p:nvSpPr>
        <p:spPr>
          <a:xfrm>
            <a:off x="9006840" y="2505456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800-218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006840" y="3163824"/>
            <a:ext cx="2542032" cy="512064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4"/>
          <p:cNvSpPr txBox="1"/>
          <p:nvPr/>
        </p:nvSpPr>
        <p:spPr>
          <a:xfrm>
            <a:off x="9006840" y="31638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· SBOM · VEX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006840" y="3822192"/>
            <a:ext cx="2542032" cy="512064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6"/>
          <p:cNvSpPr txBox="1"/>
          <p:nvPr/>
        </p:nvSpPr>
        <p:spPr>
          <a:xfrm>
            <a:off x="9006840" y="382219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CRA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RIGOUR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is now a financial and regulatory control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 2026 (602 organisations, Mar 2025 – Feb 2026)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2522144" cy="1874520"/>
          </a:xfrm>
          <a:prstGeom prst="roundRect">
            <a:avLst>
              <a:gd name="adj" fmla="val 5366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786384" y="1901952"/>
            <a:ext cx="2229536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C4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$4.99M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215638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cost of a breach — a record, up 12% year on year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36544" y="1755648"/>
            <a:ext cx="2522144" cy="1874520"/>
          </a:xfrm>
          <a:prstGeom prst="roundRect">
            <a:avLst>
              <a:gd name="adj" fmla="val 5366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 txBox="1"/>
          <p:nvPr/>
        </p:nvSpPr>
        <p:spPr>
          <a:xfrm>
            <a:off x="3582848" y="1901952"/>
            <a:ext cx="2229536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58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 days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2880360"/>
            <a:ext cx="215638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identify and contain, reversing five years of improvement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3008" y="1755648"/>
            <a:ext cx="2522144" cy="1874520"/>
          </a:xfrm>
          <a:prstGeom prst="roundRect">
            <a:avLst>
              <a:gd name="adj" fmla="val 5366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6379312" y="1901952"/>
            <a:ext cx="2229536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3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2880360"/>
            <a:ext cx="215638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breaches were AI-enabled, adding about $1M each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29471" y="1755648"/>
            <a:ext cx="2522144" cy="1874520"/>
          </a:xfrm>
          <a:prstGeom prst="roundRect">
            <a:avLst>
              <a:gd name="adj" fmla="val 5366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 txBox="1"/>
          <p:nvPr/>
        </p:nvSpPr>
        <p:spPr>
          <a:xfrm>
            <a:off x="9175775" y="1901952"/>
            <a:ext cx="2229536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258 days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9212351" y="2880360"/>
            <a:ext cx="215638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of a supply-chain compromise — the costliest single factor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58768"/>
            <a:ext cx="10911535" cy="1078992"/>
          </a:xfrm>
          <a:prstGeom prst="roundRect">
            <a:avLst>
              <a:gd name="adj" fmla="val 8475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877824" y="412394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247388"/>
            <a:ext cx="301752" cy="30175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64208" y="3986784"/>
            <a:ext cx="9649663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are cheapest at the point of authorship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664208" y="4341622"/>
            <a:ext cx="9649663" cy="495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 caught by a unit test costs minutes. The same fault caught in production costs an incident, a patch cycle, a disclosure and, increasingly, a regulator's attention.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640080" y="5138928"/>
            <a:ext cx="10911535" cy="1078992"/>
          </a:xfrm>
          <a:prstGeom prst="roundRect">
            <a:avLst>
              <a:gd name="adj" fmla="val 8475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2"/>
          <p:cNvSpPr/>
          <p:nvPr/>
        </p:nvSpPr>
        <p:spPr>
          <a:xfrm>
            <a:off x="877824" y="540410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5527548"/>
            <a:ext cx="301752" cy="30175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664208" y="5266944"/>
            <a:ext cx="9649663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DevSecOps practice measurably reduces breach cost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1664208" y="5621782"/>
            <a:ext cx="9649663" cy="495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cost-factor ranking places DevSecOps among the controls that lower the bill. Testing is no longer a quality nicety — it is a documented risk control that boards and auditors ask to see.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“security-first” actually changes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test phase — a different default for every existing one.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73936"/>
            <a:ext cx="5291176" cy="3474720"/>
          </a:xfrm>
          <a:prstGeom prst="roundRect">
            <a:avLst>
              <a:gd name="adj" fmla="val 2895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640080" y="1773936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5291176" cy="301752"/>
          </a:xfrm>
          <a:prstGeom prst="rect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 txBox="1"/>
          <p:nvPr/>
        </p:nvSpPr>
        <p:spPr>
          <a:xfrm>
            <a:off x="877824" y="1773936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as a phase  (legacy)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560320"/>
            <a:ext cx="474253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penetration test is booked two weeks before release.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arrive as a PDF, after the architecture is frozen.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compete with features for the same sprint.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test suite prevents the same class of bug returning.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auditors is reconstructed by hand, months later.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0440" y="1773936"/>
            <a:ext cx="5291176" cy="3474720"/>
          </a:xfrm>
          <a:prstGeom prst="roundRect">
            <a:avLst>
              <a:gd name="adj" fmla="val 2895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6260440" y="1773936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6260440" y="2075688"/>
            <a:ext cx="5291176" cy="301752"/>
          </a:xfrm>
          <a:prstGeom prst="rect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6498184" y="1773936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as a property  (security-first)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34760" y="2560320"/>
            <a:ext cx="474253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are modelled before the first line of code and become test cases.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abuse case has an automated regression test that fails loudly.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blocks on a defined, published set of security gates.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build provenance and secrets are verified on every commit.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a by-product of the pipeline, not a project of its own.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358384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914400" y="552297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638190"/>
            <a:ext cx="281635" cy="28163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682496" y="544982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suite is where security knowledge is stored. If a vulnerability class can recur without a test failing, your team has learned nothing from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 IS ORGANISED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parts, from principles to production evidence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3466490" cy="2139696"/>
          </a:xfrm>
          <a:prstGeom prst="roundRect">
            <a:avLst>
              <a:gd name="adj" fmla="val 470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877824" y="1828800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877824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50592"/>
            <a:ext cx="29910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875788"/>
            <a:ext cx="299100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quality means, how the international standards define it, and how to write a test strategy that survives audit.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2602" y="1591056"/>
            <a:ext cx="3466490" cy="2139696"/>
          </a:xfrm>
          <a:prstGeom prst="roundRect">
            <a:avLst>
              <a:gd name="adj" fmla="val 470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4600346" y="1828800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 txBox="1"/>
          <p:nvPr/>
        </p:nvSpPr>
        <p:spPr>
          <a:xfrm>
            <a:off x="4600346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00346" y="2450592"/>
            <a:ext cx="29910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architecture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00346" y="2875788"/>
            <a:ext cx="299100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pyramid: unit, property, mutation, integration, contract and end-to-end — with the discipline that keeps them fast and trusted.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85125" y="1591056"/>
            <a:ext cx="3466490" cy="2139696"/>
          </a:xfrm>
          <a:prstGeom prst="roundRect">
            <a:avLst>
              <a:gd name="adj" fmla="val 4701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8322869" y="1828800"/>
            <a:ext cx="475488" cy="475488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 txBox="1"/>
          <p:nvPr/>
        </p:nvSpPr>
        <p:spPr>
          <a:xfrm>
            <a:off x="8322869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2869" y="2450592"/>
            <a:ext cx="29910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Security-first testing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2869" y="2875788"/>
            <a:ext cx="299100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modelling, OWASP Top 10:2025 and ASVS 5.0, the tool stack, supply-chain assurance, and testing AI-enabled systems.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986784"/>
            <a:ext cx="3466490" cy="2139696"/>
          </a:xfrm>
          <a:prstGeom prst="roundRect">
            <a:avLst>
              <a:gd name="adj" fmla="val 470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877824" y="4224528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 txBox="1"/>
          <p:nvPr/>
        </p:nvSpPr>
        <p:spPr>
          <a:xfrm>
            <a:off x="877824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846320"/>
            <a:ext cx="299100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&amp; production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5550408"/>
            <a:ext cx="299100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against SLOs, resilience and chaos, accessibility, observability-driven testing and progressive delivery.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62602" y="3986784"/>
            <a:ext cx="3466490" cy="2139696"/>
          </a:xfrm>
          <a:prstGeom prst="roundRect">
            <a:avLst>
              <a:gd name="adj" fmla="val 470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4600346" y="4224528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 txBox="1"/>
          <p:nvPr/>
        </p:nvSpPr>
        <p:spPr>
          <a:xfrm>
            <a:off x="4600346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600346" y="4846320"/>
            <a:ext cx="29910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governance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600346" y="5271516"/>
            <a:ext cx="299100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SSDF, risk-based vulnerability triage, the metrics worth reporting, and the compliance map for 2026.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85125" y="3986784"/>
            <a:ext cx="3466490" cy="2139696"/>
          </a:xfrm>
          <a:prstGeom prst="roundRect">
            <a:avLst>
              <a:gd name="adj" fmla="val 4701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8322869" y="4224528"/>
            <a:ext cx="475488" cy="475488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 txBox="1"/>
          <p:nvPr/>
        </p:nvSpPr>
        <p:spPr>
          <a:xfrm>
            <a:off x="8322869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8322869" y="4846320"/>
            <a:ext cx="29910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322869" y="5271516"/>
            <a:ext cx="299100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to avoid, a one-page checklist, and a staged 90-day / 6-month / 12-month roadmap.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25880" cy="1325880"/>
          </a:xfrm>
          <a:prstGeom prst="roundRect">
            <a:avLst>
              <a:gd name="adj" fmla="val 22069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tool is chosen, a team needs a shared definition of quality, a shared vocabulary, and a written strategy that says what will be tested, how deeply, and on what evidence a release is allowed to proceed.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223760" y="148132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48132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validation and evaluation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2267712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7223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82128" y="2267712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25010:2023 — the quality model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3054096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7223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82128" y="3054096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29119 — the process spine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 txBox="1"/>
          <p:nvPr/>
        </p:nvSpPr>
        <p:spPr>
          <a:xfrm>
            <a:off x="7223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3840480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quality attributes to techniques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23760" y="4626864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 txBox="1"/>
          <p:nvPr/>
        </p:nvSpPr>
        <p:spPr>
          <a:xfrm>
            <a:off x="722376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4626864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prioritisation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23760" y="541324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722376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882128" y="541324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strategy and its exit criteria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Verification, validation, evaluation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questions. Teams that conflate them ship correct software nobody wanted.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3442106" cy="3127248"/>
          </a:xfrm>
          <a:prstGeom prst="roundRect">
            <a:avLst>
              <a:gd name="adj" fmla="val 3216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4825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215524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7824" y="2670048"/>
            <a:ext cx="2966618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126232"/>
            <a:ext cx="2966618" cy="15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we build the product right?”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to the specification. Unit tests, static analysis, type checking, code review, contract tests.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 by the team, mostly automatable, and cheap to run on every commit.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74794" y="1810512"/>
            <a:ext cx="3442106" cy="3127248"/>
          </a:xfrm>
          <a:prstGeom prst="roundRect">
            <a:avLst>
              <a:gd name="adj" fmla="val 3216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612538" y="204825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523" y="215524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2538" y="2670048"/>
            <a:ext cx="2966618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3126232"/>
            <a:ext cx="2966618" cy="15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we build the right product?”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for the real need. Acceptance testing, usability studies, beta cohorts, production experiments.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user or their proxy. No amount of unit testing substitutes for it.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09509" y="1810512"/>
            <a:ext cx="3442106" cy="3127248"/>
          </a:xfrm>
          <a:prstGeom prst="roundRect">
            <a:avLst>
              <a:gd name="adj" fmla="val 3216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347253" y="204825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238" y="215524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47253" y="2670048"/>
            <a:ext cx="2966618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347253" y="3126232"/>
            <a:ext cx="2966618" cy="15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good is it, on what evidence?”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judgement against defined criteria: quality characteristics, risk posture, benchmarks, audit findings.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regulator, a customer or a board actually asks for.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5138928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914400" y="538581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" y="5501030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82496" y="5230368"/>
            <a:ext cx="9539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spans all three: verification (does the control work?), validation (is the control the right one for this threat?) and evaluation (can we demonstrate it to a third party?).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25010:2023 — the product quality model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characteristics. The 2023 revision added Safety, and renamed Usability → Interaction capability, Portability → Flexibility.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59536" y="20116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" y="2106320"/>
            <a:ext cx="231343" cy="2313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26464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suitability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correctness, appropriateness.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26026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545482" y="20116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123" y="2106320"/>
            <a:ext cx="231343" cy="23134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12410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efficiency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4545482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behaviour, capacity, resource use.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11973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231429" y="20116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6069" y="2106320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98357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231429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Co-existence and interoperability.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859536" y="34015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176" y="3496208"/>
            <a:ext cx="231343" cy="23134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26464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capability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859536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Learnability, accessibility, inclusivity.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26026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2"/>
          <p:cNvSpPr/>
          <p:nvPr/>
        </p:nvSpPr>
        <p:spPr>
          <a:xfrm>
            <a:off x="4545482" y="34015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123" y="3496208"/>
            <a:ext cx="231343" cy="23134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12410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50" dirty="0"/>
          </a:p>
        </p:txBody>
      </p:sp>
      <p:sp>
        <p:nvSpPr>
          <p:cNvPr id="31" name="Text 24"/>
          <p:cNvSpPr txBox="1"/>
          <p:nvPr/>
        </p:nvSpPr>
        <p:spPr>
          <a:xfrm>
            <a:off x="4545482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fault tolerance, recoverability.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11973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26"/>
          <p:cNvSpPr/>
          <p:nvPr/>
        </p:nvSpPr>
        <p:spPr>
          <a:xfrm>
            <a:off x="8231429" y="34015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069" y="3496208"/>
            <a:ext cx="231343" cy="231343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798357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50" dirty="0"/>
          </a:p>
        </p:txBody>
      </p:sp>
      <p:sp>
        <p:nvSpPr>
          <p:cNvPr id="36" name="Text 28"/>
          <p:cNvSpPr txBox="1"/>
          <p:nvPr/>
        </p:nvSpPr>
        <p:spPr>
          <a:xfrm>
            <a:off x="8231429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authenticity, accountability, resistance.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640080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0"/>
          <p:cNvSpPr/>
          <p:nvPr/>
        </p:nvSpPr>
        <p:spPr>
          <a:xfrm>
            <a:off x="859536" y="47914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176" y="4886096"/>
            <a:ext cx="231343" cy="231343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426464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550" dirty="0"/>
          </a:p>
        </p:txBody>
      </p:sp>
      <p:sp>
        <p:nvSpPr>
          <p:cNvPr id="41" name="Text 32"/>
          <p:cNvSpPr txBox="1"/>
          <p:nvPr/>
        </p:nvSpPr>
        <p:spPr>
          <a:xfrm>
            <a:off x="859536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Modularity, reusability, testability, modifiability.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4326026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34"/>
          <p:cNvSpPr/>
          <p:nvPr/>
        </p:nvSpPr>
        <p:spPr>
          <a:xfrm>
            <a:off x="4545482" y="47914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123" y="4886096"/>
            <a:ext cx="231343" cy="231343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112410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Flexibility</a:t>
            </a:r>
            <a:endParaRPr lang="en-US" sz="1550" dirty="0"/>
          </a:p>
        </p:txBody>
      </p:sp>
      <p:sp>
        <p:nvSpPr>
          <p:cNvPr id="46" name="Text 36"/>
          <p:cNvSpPr txBox="1"/>
          <p:nvPr/>
        </p:nvSpPr>
        <p:spPr>
          <a:xfrm>
            <a:off x="4545482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Adaptability, installability, replaceability, scalability.</a:t>
            </a:r>
            <a:endParaRPr lang="en-US" sz="1150" dirty="0"/>
          </a:p>
        </p:txBody>
      </p:sp>
      <p:sp>
        <p:nvSpPr>
          <p:cNvPr id="47" name="Shape 37"/>
          <p:cNvSpPr/>
          <p:nvPr/>
        </p:nvSpPr>
        <p:spPr>
          <a:xfrm>
            <a:off x="8011973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Shape 38"/>
          <p:cNvSpPr/>
          <p:nvPr/>
        </p:nvSpPr>
        <p:spPr>
          <a:xfrm>
            <a:off x="8231429" y="47914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6069" y="4886096"/>
            <a:ext cx="231343" cy="231343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8798357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550" dirty="0"/>
          </a:p>
        </p:txBody>
      </p:sp>
      <p:sp>
        <p:nvSpPr>
          <p:cNvPr id="51" name="Text 40"/>
          <p:cNvSpPr txBox="1"/>
          <p:nvPr/>
        </p:nvSpPr>
        <p:spPr>
          <a:xfrm>
            <a:off x="8231429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constraint, hazard warning, fail safe.</a:t>
            </a:r>
            <a:endParaRPr lang="en-US" sz="1150" dirty="0"/>
          </a:p>
        </p:txBody>
      </p:sp>
      <p:sp>
        <p:nvSpPr>
          <p:cNvPr id="52" name="Text 41"/>
          <p:cNvSpPr txBox="1"/>
          <p:nvPr/>
        </p:nvSpPr>
        <p:spPr>
          <a:xfrm>
            <a:off x="640080" y="5870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a checklist for requirements, not decoration: for each characteristic ask “what is our target, how is it measured, and which test proves it?”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ISO/IEC/IEEE 29119 — the testing process spine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a vocabulary and a completeness check, not as a mandate to produce paperwork nobody reads.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1947672"/>
            <a:ext cx="512064" cy="51206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77824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1938528"/>
            <a:ext cx="9686239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and definitions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627632" y="2285619"/>
            <a:ext cx="9686239" cy="22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vocabulary so “integration test” means the same thing to the developer, the auditor and the customer.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77824" y="2862072"/>
            <a:ext cx="512064" cy="512064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877824" y="2862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2852928"/>
            <a:ext cx="9686239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processes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627632" y="3200019"/>
            <a:ext cx="9686239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strategy → test management → dynamic testing. This is the layer that says who decides what gets tested and who signs the release.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39312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77824" y="3776472"/>
            <a:ext cx="512064" cy="51206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77824" y="3776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27632" y="3767328"/>
            <a:ext cx="9686239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documentation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627632" y="4114419"/>
            <a:ext cx="9686239" cy="22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for policy, strategy, plan, status and completion reports — the artefacts a regulator asks for by name.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553712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77824" y="4690872"/>
            <a:ext cx="512064" cy="51206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877824" y="4690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627632" y="4681728"/>
            <a:ext cx="9686239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techniques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1627632" y="5028819"/>
            <a:ext cx="9686239" cy="22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Specification-based, structure-based and experience-based techniques, each with defined coverage measures.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468112"/>
            <a:ext cx="10911535" cy="731520"/>
          </a:xfrm>
          <a:prstGeom prst="roundRect">
            <a:avLst>
              <a:gd name="adj" fmla="val 12500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914400" y="55778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693054"/>
            <a:ext cx="281635" cy="28163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682496" y="5559552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artefact names even if you keep them lightweight. A one-page “test strategy” that uses standard headings survives an audit; a wiki page called “how we test” does not.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quality attributes to concrete techniques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characteristic you claim to care about needs a named technique and an owner — otherwise it is an aspiration.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47088"/>
          <a:ext cx="10908792" cy="46736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characteristic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technique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gate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suitability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Unit, integration, acceptance, property-based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on every pull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 → abuse-case tests, SAST, SCA, DAST, fuzzing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on critical; warn on the 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team + AppSec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injection, chaos experiments, recovery drills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in non-production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 + feature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efficiency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Load, stress, soak and spike tests against SLOs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on p95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team + SRE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2.2 automated scan plus manual assistive-tech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on automated violations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team +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score, complexity budgets, dependency freshness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Warn, reviewed at sprint boundary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Consumer-driven contract tests, browser/device matrix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on contract break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sides of the 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 &amp; 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tests, fail-safe and degradation drills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Release-gate checklist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+ SRE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Risk-based testing: depth where loss is largest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testing is impossible. Uniform testing is therefore always the wrong allocation.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1875069" cy="1188720"/>
          </a:xfrm>
          <a:prstGeom prst="roundRect">
            <a:avLst>
              <a:gd name="adj" fmla="val 769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786384" y="1920240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Inventory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67712"/>
            <a:ext cx="1619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features, services and data flows. Include the ones nobody owns.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8301" y="2286000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2899197" y="1792224"/>
            <a:ext cx="1875069" cy="1188720"/>
          </a:xfrm>
          <a:prstGeom prst="roundRect">
            <a:avLst>
              <a:gd name="adj" fmla="val 769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3045501" y="1920240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Score impact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27213" y="2267712"/>
            <a:ext cx="1619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regulatory, safety and reputational loss if this fails.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7417" y="2286000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5158313" y="1792224"/>
            <a:ext cx="1875069" cy="1188720"/>
          </a:xfrm>
          <a:prstGeom prst="roundRect">
            <a:avLst>
              <a:gd name="adj" fmla="val 769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 txBox="1"/>
          <p:nvPr/>
        </p:nvSpPr>
        <p:spPr>
          <a:xfrm>
            <a:off x="5304617" y="1920240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Score likelihood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86329" y="2267712"/>
            <a:ext cx="1619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rate, complexity, defect history, external exposure.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06534" y="2286000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7417430" y="1792224"/>
            <a:ext cx="1875069" cy="1188720"/>
          </a:xfrm>
          <a:prstGeom prst="roundRect">
            <a:avLst>
              <a:gd name="adj" fmla="val 769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 txBox="1"/>
          <p:nvPr/>
        </p:nvSpPr>
        <p:spPr>
          <a:xfrm>
            <a:off x="7563734" y="1920240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Rank &amp; band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45446" y="2267712"/>
            <a:ext cx="1619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low. Publish the banding.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65651" y="2286000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9676547" y="1792224"/>
            <a:ext cx="1875069" cy="1188720"/>
          </a:xfrm>
          <a:prstGeom prst="roundRect">
            <a:avLst>
              <a:gd name="adj" fmla="val 7692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9822851" y="1920240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Assign depth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804563" y="2267712"/>
            <a:ext cx="1619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and coverage targets per band, written down.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45536"/>
          <a:ext cx="10908792" cy="271475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authorisation, authentication, funds transfer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+ property + mutation ≥80% + contract + DAST + pen 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known critical or high findings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records, reporting, admin functions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+ integration + contract + SAST/SCA gates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known critical findings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dashboards, batch jobs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+ integration; scanned, not gated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acceptance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content, internal tooling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tests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discretion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640080" y="5870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scoring decisions, not just the outcome. When an incident happens, the question asked is “why was this rated medium?”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strategy: nine sections, one page each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 per product, reviewed quarterly, owned by the engineering lead — not by a QA department.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73936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59536" y="1993392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59536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1956816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risk banding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505456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scope, the risk bands, and the depth required per band.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9930" y="1773936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539386" y="1993392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4539386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06314" y="1956816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levels &amp; types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39386" y="2505456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levels exist, what each is responsible for, and what it must not duplicate.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99781" y="1773936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219237" y="1993392"/>
            <a:ext cx="420624" cy="420624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219237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86165" y="1956816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requirements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19237" y="2505456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ASVS level targeted, the threat model cadence, and the abuse-case backlog.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255264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59536" y="3474720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859536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26464" y="3438144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Environments &amp; data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859536" y="3986784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environments are provisioned, how test data is generated and de-identified.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19930" y="3255264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4539386" y="3474720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 txBox="1"/>
          <p:nvPr/>
        </p:nvSpPr>
        <p:spPr>
          <a:xfrm>
            <a:off x="4539386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106314" y="3438144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tooling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4539386" y="3986784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ownership, where each suite runs and its time budget.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99781" y="3255264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8219237" y="3474720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 txBox="1"/>
          <p:nvPr/>
        </p:nvSpPr>
        <p:spPr>
          <a:xfrm>
            <a:off x="8219237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786165" y="3438144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&amp; exit criteria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8219237" y="3986784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measurable conditions for entering and leaving each level.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736592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6"/>
          <p:cNvSpPr/>
          <p:nvPr/>
        </p:nvSpPr>
        <p:spPr>
          <a:xfrm>
            <a:off x="859536" y="4956048"/>
            <a:ext cx="420624" cy="420624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 txBox="1"/>
          <p:nvPr/>
        </p:nvSpPr>
        <p:spPr>
          <a:xfrm>
            <a:off x="859536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426464" y="4919472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management</a:t>
            </a:r>
            <a:endParaRPr lang="en-US" sz="1550" dirty="0"/>
          </a:p>
        </p:txBody>
      </p:sp>
      <p:sp>
        <p:nvSpPr>
          <p:cNvPr id="41" name="Text 39"/>
          <p:cNvSpPr txBox="1"/>
          <p:nvPr/>
        </p:nvSpPr>
        <p:spPr>
          <a:xfrm>
            <a:off x="859536" y="546811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definitions, triage cadence, service levels for fixes.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19930" y="4736592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41"/>
          <p:cNvSpPr/>
          <p:nvPr/>
        </p:nvSpPr>
        <p:spPr>
          <a:xfrm>
            <a:off x="4539386" y="4956048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42"/>
          <p:cNvSpPr txBox="1"/>
          <p:nvPr/>
        </p:nvSpPr>
        <p:spPr>
          <a:xfrm>
            <a:off x="4539386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106314" y="4919472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reporting</a:t>
            </a:r>
            <a:endParaRPr lang="en-US" sz="1550" dirty="0"/>
          </a:p>
        </p:txBody>
      </p:sp>
      <p:sp>
        <p:nvSpPr>
          <p:cNvPr id="46" name="Text 44"/>
          <p:cNvSpPr txBox="1"/>
          <p:nvPr/>
        </p:nvSpPr>
        <p:spPr>
          <a:xfrm>
            <a:off x="4539386" y="546811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measured, to whom it is reported, and how often.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999781" y="4736592"/>
            <a:ext cx="3551834" cy="1353312"/>
          </a:xfrm>
          <a:prstGeom prst="roundRect">
            <a:avLst>
              <a:gd name="adj" fmla="val 743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Shape 46"/>
          <p:cNvSpPr/>
          <p:nvPr/>
        </p:nvSpPr>
        <p:spPr>
          <a:xfrm>
            <a:off x="8219237" y="4956048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 txBox="1"/>
          <p:nvPr/>
        </p:nvSpPr>
        <p:spPr>
          <a:xfrm>
            <a:off x="8219237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8786165" y="4919472"/>
            <a:ext cx="25459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exceptions</a:t>
            </a:r>
            <a:endParaRPr lang="en-US" sz="1550" dirty="0"/>
          </a:p>
        </p:txBody>
      </p:sp>
      <p:sp>
        <p:nvSpPr>
          <p:cNvPr id="51" name="Text 49"/>
          <p:cNvSpPr txBox="1"/>
          <p:nvPr/>
        </p:nvSpPr>
        <p:spPr>
          <a:xfrm>
            <a:off x="8219237" y="5468112"/>
            <a:ext cx="311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gaps, accepted risks, who accepted them and when they expire.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criteria, exit criteria and Definition of Done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that cannot be evaluated mechanically is not a gate — it is a conversation.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73936"/>
            <a:ext cx="5291176" cy="3529584"/>
          </a:xfrm>
          <a:prstGeom prst="roundRect">
            <a:avLst>
              <a:gd name="adj" fmla="val 2850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640080" y="1773936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5291176" cy="301752"/>
          </a:xfrm>
          <a:prstGeom prst="rect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 txBox="1"/>
          <p:nvPr/>
        </p:nvSpPr>
        <p:spPr>
          <a:xfrm>
            <a:off x="877824" y="1773936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criteria  (unenforceable)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560320"/>
            <a:ext cx="47425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critical tests pass.”  Which tests are critical?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“Code coverage is adequate.”  Adequate against what target?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“Security review completed.”  By whom, against which standard?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major bugs outstanding.”  Who classifies severity, and when?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“Performance is acceptable.”  At which percentile and load?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0440" y="1773936"/>
            <a:ext cx="5291176" cy="3529584"/>
          </a:xfrm>
          <a:prstGeom prst="roundRect">
            <a:avLst>
              <a:gd name="adj" fmla="val 2850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6260440" y="1773936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6260440" y="2075688"/>
            <a:ext cx="5291176" cy="301752"/>
          </a:xfrm>
          <a:prstGeom prst="rect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6498184" y="1773936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Enforceable criteria  (machine-checkable)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34760" y="2560320"/>
            <a:ext cx="47425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green on the release commit; zero quarantined tests in the critical band.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coverage ≥ 80% on changed lines; mutation score ≥ 70% in the critical band.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open findings at ASVS L2 for in-scope requirements; SAST and SCA gates green.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open severity-1 or severity-2 defects; each severity-3 has an owner and a date.</a:t>
            </a:r>
            <a:endParaRPr lang="en-US" sz="13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within 10% of the previous release under the standard load profile.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0911535" cy="822960"/>
          </a:xfrm>
          <a:prstGeom prst="roundRect">
            <a:avLst>
              <a:gd name="adj" fmla="val 11111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914400" y="555040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665622"/>
            <a:ext cx="281635" cy="28163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682496" y="5486400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is the smallest useful gate: written by the team, applied to every story, and never negotiable inside a sprint. Anything negotiable belongs in the release gate instead.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25880" cy="1325880"/>
          </a:xfrm>
          <a:prstGeom prst="roundRect">
            <a:avLst>
              <a:gd name="adj" fmla="val 22069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architecture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suite is a system with its own architecture. Get the shape wrong and it becomes slow, flaky and distrusted — at which point developers route around it and the whole investment is lost.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223760" y="148132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48132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pyramid and its failure modes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2267712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7223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82128" y="2267712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FIRST and Arrange-Act-Assert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3054096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7223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82128" y="3054096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and mutation testing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 txBox="1"/>
          <p:nvPr/>
        </p:nvSpPr>
        <p:spPr>
          <a:xfrm>
            <a:off x="7223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3840480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against real dependencies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23760" y="4626864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 txBox="1"/>
          <p:nvPr/>
        </p:nvSpPr>
        <p:spPr>
          <a:xfrm>
            <a:off x="722376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4626864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 testing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23760" y="541324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722376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882128" y="541324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Flakiness, test data and honest coverage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pyramid — contract-heavy, UI-thin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is a consequence of cost and confidence, not a rule handed down. Measure yours before defending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883664"/>
            <a:ext cx="2834640" cy="896112"/>
          </a:xfrm>
          <a:prstGeom prst="roundRect">
            <a:avLst>
              <a:gd name="adj" fmla="val 9184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2011680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3042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 ·  minutes  ·  highest confidence, highest cost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63040" y="2871216"/>
            <a:ext cx="3931920" cy="896112"/>
          </a:xfrm>
          <a:prstGeom prst="roundRect">
            <a:avLst>
              <a:gd name="adj" fmla="val 9184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 txBox="1"/>
          <p:nvPr/>
        </p:nvSpPr>
        <p:spPr>
          <a:xfrm>
            <a:off x="146304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291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·  seconds  ·  real database, real broker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3858768"/>
            <a:ext cx="4846320" cy="896112"/>
          </a:xfrm>
          <a:prstGeom prst="roundRect">
            <a:avLst>
              <a:gd name="adj" fmla="val 9184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1005840" y="3913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/ API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793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·  sub-second  ·  guards every service boundary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577840" cy="896112"/>
          </a:xfrm>
          <a:prstGeom prst="roundRect">
            <a:avLst>
              <a:gd name="adj" fmla="val 9184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 txBox="1"/>
          <p:nvPr/>
        </p:nvSpPr>
        <p:spPr>
          <a:xfrm>
            <a:off x="640080" y="49011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2669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 ·  milliseconds  ·  runs on every keystroke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1883664"/>
            <a:ext cx="4876495" cy="1207008"/>
          </a:xfrm>
          <a:prstGeom prst="roundRect">
            <a:avLst>
              <a:gd name="adj" fmla="val 7576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6912864" y="2240280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964" y="2351380"/>
            <a:ext cx="271577" cy="27157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644384" y="2011680"/>
            <a:ext cx="366948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ice-cream cone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644384" y="2351024"/>
            <a:ext cx="3669487" cy="75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end-to-end tests exceed roughly 20% of the suite, feedback arrives in tens of minutes and developers stop running it locally. Push assertions down a level.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75120" y="3264408"/>
            <a:ext cx="4876495" cy="1207008"/>
          </a:xfrm>
          <a:prstGeom prst="roundRect">
            <a:avLst>
              <a:gd name="adj" fmla="val 7576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2"/>
          <p:cNvSpPr/>
          <p:nvPr/>
        </p:nvSpPr>
        <p:spPr>
          <a:xfrm>
            <a:off x="6912864" y="3621024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964" y="3732124"/>
            <a:ext cx="271577" cy="27157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644384" y="3392424"/>
            <a:ext cx="366948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the pipeline, not the suite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7644384" y="3731768"/>
            <a:ext cx="3669487" cy="75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six-minute pull-request pipeline trains a team to add tests. A forty-five minute one trains them to skip. Move slow suites to merge and nightly stages.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675120" y="4645152"/>
            <a:ext cx="4876495" cy="1207008"/>
          </a:xfrm>
          <a:prstGeom prst="roundRect">
            <a:avLst>
              <a:gd name="adj" fmla="val 7576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Shape 26"/>
          <p:cNvSpPr/>
          <p:nvPr/>
        </p:nvSpPr>
        <p:spPr>
          <a:xfrm>
            <a:off x="6912864" y="5001768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964" y="5112868"/>
            <a:ext cx="271577" cy="27157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644384" y="4773168"/>
            <a:ext cx="366948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level owns different questions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7644384" y="5112512"/>
            <a:ext cx="3669487" cy="75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is this logic right? Contract: does the boundary still hold? Integration: does the wiring work? End-to-end: can a real user complete the critical journey?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tests: FIRST principles, Arrange–Act–Assert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test is a specification that executes. If it does not read like a claim about behaviour, rewrite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2021373" cy="1371600"/>
          </a:xfrm>
          <a:prstGeom prst="roundRect">
            <a:avLst>
              <a:gd name="adj" fmla="val 733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2136953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7824" y="2651760"/>
            <a:ext cx="1545885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030474"/>
            <a:ext cx="1545885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each.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62621" y="1792224"/>
            <a:ext cx="2021373" cy="1371600"/>
          </a:xfrm>
          <a:prstGeom prst="roundRect">
            <a:avLst>
              <a:gd name="adj" fmla="val 733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3100365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349" y="2136953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100365" y="2651760"/>
            <a:ext cx="1545885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100365" y="3030474"/>
            <a:ext cx="1545885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state.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85161" y="1792224"/>
            <a:ext cx="2021373" cy="1371600"/>
          </a:xfrm>
          <a:prstGeom prst="roundRect">
            <a:avLst>
              <a:gd name="adj" fmla="val 733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5322905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890" y="2136953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22905" y="2651760"/>
            <a:ext cx="1545885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322905" y="3030474"/>
            <a:ext cx="1545885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anywhere.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307702" y="1792224"/>
            <a:ext cx="2021373" cy="1371600"/>
          </a:xfrm>
          <a:prstGeom prst="roundRect">
            <a:avLst>
              <a:gd name="adj" fmla="val 733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7545446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2431" y="2136953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5446" y="2651760"/>
            <a:ext cx="1545885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Self-validating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45446" y="3030474"/>
            <a:ext cx="1545885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fail, always.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530243" y="1792224"/>
            <a:ext cx="2021373" cy="1371600"/>
          </a:xfrm>
          <a:prstGeom prst="roundRect">
            <a:avLst>
              <a:gd name="adj" fmla="val 7333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2"/>
          <p:cNvSpPr/>
          <p:nvPr/>
        </p:nvSpPr>
        <p:spPr>
          <a:xfrm>
            <a:off x="9767987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971" y="2136953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67987" y="2651760"/>
            <a:ext cx="1545885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Timely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767987" y="3030474"/>
            <a:ext cx="1545885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the code.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40080" y="3273552"/>
            <a:ext cx="10911535" cy="2944368"/>
          </a:xfrm>
          <a:prstGeom prst="roundRect">
            <a:avLst>
              <a:gd name="adj" fmla="val 2795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26"/>
          <p:cNvSpPr txBox="1"/>
          <p:nvPr/>
        </p:nvSpPr>
        <p:spPr>
          <a:xfrm>
            <a:off x="859536" y="3465576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— ACT — ASSERT:  ONE BEHAVIOUR, ONE REASON TO FAIL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859536" y="3822192"/>
            <a:ext cx="10472623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test_transfer_rejects_amount_above_daily_limit():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Arrange — the smallest world in which the rule is meaningful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 = Account(balance=Naira(500_000), daily_limit=Naira(200_000))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Act — exactly one call; the behaviour under test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pytest.raises(DailyLimitExceeded) as err: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account.transfer(to="0123456789", amount=Naira(200_001))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Assert — on the observable contract, not the implementation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err.value.limit == Naira(200_000)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account.balance == Naira(500_000)   # nothing was mutated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Assertions that actually assert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suites raise coverage almost for free. Coverage without meaningful assertions is a false signal — and it is now the common failure mode.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5300320" cy="2798064"/>
          </a:xfrm>
          <a:prstGeom prst="roundRect">
            <a:avLst>
              <a:gd name="adj" fmla="val 2941"/>
            </a:avLst>
          </a:prstGeom>
          <a:solidFill>
            <a:srgbClr val="3B1E17"/>
          </a:solidFill>
          <a:ln w="12700">
            <a:solidFill>
              <a:srgbClr val="3B1E1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859536" y="1984248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EVEN WHEN THE CODE IS WRONG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40864"/>
            <a:ext cx="486140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it("creates an invoice", async () =&gt;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api.post("/invoices", payload);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expect(res).toBeDefined();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expect(res.status).toBeTruthy();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expect(mockRepo.save).toHaveBeenCalled();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Green if the status is 500.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Green if the total is negative.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Green if it is saved to the wrong tenant.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792224"/>
            <a:ext cx="5300320" cy="2798064"/>
          </a:xfrm>
          <a:prstGeom prst="roundRect">
            <a:avLst>
              <a:gd name="adj" fmla="val 2941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 txBox="1"/>
          <p:nvPr/>
        </p:nvSpPr>
        <p:spPr>
          <a:xfrm>
            <a:off x="6470752" y="1984248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FOR EXACTLY ONE REASON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70752" y="2340864"/>
            <a:ext cx="486140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it("scopes a new invoice to the caller's tenant",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() =&gt;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api.post("/invoices", payload);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expect(res.status).toBe(201);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expect(res.body).toMatchObject({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tenantId: caller.tenantId,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total: 45_000,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currency: "NGN",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status: "AWAITING_APPROVAL",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expect(res.body.id).toMatch(UUID_V4);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3454298" cy="1335024"/>
          </a:xfrm>
          <a:prstGeom prst="roundRect">
            <a:avLst>
              <a:gd name="adj" fmla="val 7534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859536" y="49743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" y="5068976"/>
            <a:ext cx="231343" cy="23134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26464" y="4937760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real values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5486400"/>
            <a:ext cx="3015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toBeDefined and toBeTruthy pass for almost every wrong answer.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68698" y="4754880"/>
            <a:ext cx="3454298" cy="1335024"/>
          </a:xfrm>
          <a:prstGeom prst="roundRect">
            <a:avLst>
              <a:gd name="adj" fmla="val 7534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6"/>
          <p:cNvSpPr/>
          <p:nvPr/>
        </p:nvSpPr>
        <p:spPr>
          <a:xfrm>
            <a:off x="4588154" y="49743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95" y="5068976"/>
            <a:ext cx="231343" cy="23134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55082" y="4937760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outcomes, not calls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4588154" y="5486400"/>
            <a:ext cx="3015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 mock was called tests your wiring diagram, not your behaviour.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97317" y="4754880"/>
            <a:ext cx="3454298" cy="1335024"/>
          </a:xfrm>
          <a:prstGeom prst="roundRect">
            <a:avLst>
              <a:gd name="adj" fmla="val 7534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0"/>
          <p:cNvSpPr/>
          <p:nvPr/>
        </p:nvSpPr>
        <p:spPr>
          <a:xfrm>
            <a:off x="8316773" y="49743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413" y="5068976"/>
            <a:ext cx="231343" cy="23134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83701" y="4937760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the security field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8316773" y="5486400"/>
            <a:ext cx="30153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owner, role and scope are exactly what an attacker manipulates.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doubles: five kinds, three legitimate uses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Over-mocking is the most common cause of a suite that is green while production is broken.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47088"/>
          <a:ext cx="10908792" cy="362102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placeholder passed but never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signature demands an argument you do not exercise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the unit has too many collaborators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canned answers to calls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a specific input state to reach a branch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Canned answers drift from the real response shape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stub that records how it was called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call itself is the observable outcome (e.g. an audit log)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Tempts you to assert on interactions instead of results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Pre-programmed with expectations, fails on mismatch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Rarely. The interaction really is the contract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Couples the test to the implementation; brittle refactors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working lightweight implementation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repository, local queue, fake clock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tested itself, or it silently diverges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486400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6"/>
          <p:cNvSpPr/>
          <p:nvPr/>
        </p:nvSpPr>
        <p:spPr>
          <a:xfrm>
            <a:off x="914400" y="56235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73877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82496" y="5577840"/>
            <a:ext cx="9539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fake over a mock, and a real dependency in a container over a fake. Every layer of pretence you add is a layer where production and test can quietly disagree.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Property-based testing: state the invariant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Example-based tests check the cases you thought of. Property tests attack the ones you did not.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10911535" cy="2798064"/>
          </a:xfrm>
          <a:prstGeom prst="roundRect">
            <a:avLst>
              <a:gd name="adj" fmla="val 2941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859536" y="198424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GENERATES, FALSIFIES, THEN SHRINKS TO A MINIMAL COUNTEREXAMPLE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40864"/>
            <a:ext cx="10472623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hypothesis import given, strategies as st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@given(st.lists(st.integers(min_value=0, max_value=10**9), min_size=1))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test_split_bill_never_loses_or_invents_a_kobo(amounts):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sum(amounts)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shares = split_bill(total, parties=len(amounts))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sum(shares) == total                    # conservation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max(shares) - min(shares) &lt;= 1          # fairness, to the kobo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all(s &gt;= 0 for s in shares)             # no negative share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736592"/>
            <a:ext cx="3454298" cy="1389888"/>
          </a:xfrm>
          <a:prstGeom prst="roundRect">
            <a:avLst>
              <a:gd name="adj" fmla="val 7237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859536" y="4956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" y="5050688"/>
            <a:ext cx="231343" cy="23134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26464" y="4919472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pays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5468112"/>
            <a:ext cx="30153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Parsers, serialisers, money arithmetic, dates, permission resolution — anything with an algebraic law.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8698" y="4736592"/>
            <a:ext cx="3454298" cy="1389888"/>
          </a:xfrm>
          <a:prstGeom prst="roundRect">
            <a:avLst>
              <a:gd name="adj" fmla="val 723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3"/>
          <p:cNvSpPr/>
          <p:nvPr/>
        </p:nvSpPr>
        <p:spPr>
          <a:xfrm>
            <a:off x="4588154" y="4956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95" y="5050688"/>
            <a:ext cx="231343" cy="231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155082" y="4919472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Shrinking is the feature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588154" y="5468112"/>
            <a:ext cx="30153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 it reduces the input to the smallest case that still fails, so the report is a one-line reproduction.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97317" y="4736592"/>
            <a:ext cx="3454298" cy="1389888"/>
          </a:xfrm>
          <a:prstGeom prst="roundRect">
            <a:avLst>
              <a:gd name="adj" fmla="val 7237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7"/>
          <p:cNvSpPr/>
          <p:nvPr/>
        </p:nvSpPr>
        <p:spPr>
          <a:xfrm>
            <a:off x="8316773" y="4956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413" y="5050688"/>
            <a:ext cx="231343" cy="23134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883701" y="4919472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every counterexample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316773" y="5468112"/>
            <a:ext cx="30153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shrunk case as a permanent example-based test. The property finds it once; the example keeps it fixed.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 testing: the only honest suite audit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your production code on purpose and asks whether any test noticed. The percentage that did is your mutation score.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2439848" cy="1170432"/>
          </a:xfrm>
          <a:prstGeom prst="roundRect">
            <a:avLst>
              <a:gd name="adj" fmla="val 781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786384" y="1938528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218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&gt; to &gt;=, drop a call, negate a condition, return null.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3080" y="229514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463976" y="1810512"/>
            <a:ext cx="2439848" cy="1170432"/>
          </a:xfrm>
          <a:prstGeom prst="roundRect">
            <a:avLst>
              <a:gd name="adj" fmla="val 781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3610280" y="1938528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suite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2286000"/>
            <a:ext cx="218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only the tests that touch the mutated 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76976" y="229514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6287872" y="1810512"/>
            <a:ext cx="2439848" cy="1170432"/>
          </a:xfrm>
          <a:prstGeom prst="roundRect">
            <a:avLst>
              <a:gd name="adj" fmla="val 781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 txBox="1"/>
          <p:nvPr/>
        </p:nvSpPr>
        <p:spPr>
          <a:xfrm>
            <a:off x="6434176" y="1938528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286000"/>
            <a:ext cx="218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if a test fails. Survived if the suite stays green.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00871" y="229514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9111767" y="1810512"/>
            <a:ext cx="2439848" cy="1170432"/>
          </a:xfrm>
          <a:prstGeom prst="roundRect">
            <a:avLst>
              <a:gd name="adj" fmla="val 7813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 txBox="1"/>
          <p:nvPr/>
        </p:nvSpPr>
        <p:spPr>
          <a:xfrm>
            <a:off x="9258071" y="1938528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239783" y="2286000"/>
            <a:ext cx="218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÷ (killed + survived), reported per module.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145536"/>
            <a:ext cx="5532120" cy="2688336"/>
          </a:xfrm>
          <a:prstGeom prst="roundRect">
            <a:avLst>
              <a:gd name="adj" fmla="val 3061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 txBox="1"/>
          <p:nvPr/>
        </p:nvSpPr>
        <p:spPr>
          <a:xfrm>
            <a:off x="859536" y="3337560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SURVIVING MUTANT — 100% LINE COVERAGE, ZERO PROTECTION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" y="3694176"/>
            <a:ext cx="5093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original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(attempts &gt; MAX_ATTEMPTS) lockAccount(user);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mutant: &gt;  becomes  &gt;=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(attempts &gt;= MAX_ATTEMPTS) lockAccount(user);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Suite still green. No test ever exercised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exact boundary. An off-by-one in the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lockout rule would ship unnoticed.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3145536"/>
            <a:ext cx="5105095" cy="859536"/>
          </a:xfrm>
          <a:prstGeom prst="roundRect">
            <a:avLst>
              <a:gd name="adj" fmla="val 1063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6684264" y="33467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134" y="3449574"/>
            <a:ext cx="251460" cy="2514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379208" y="3273552"/>
            <a:ext cx="3934663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that hold up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7379208" y="3483223"/>
            <a:ext cx="3934663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mutation score in critical-band modules; ≥ 60% elsewhere. Report per module — a project-wide average hides the modules that matter.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46520" y="4114800"/>
            <a:ext cx="5105095" cy="859536"/>
          </a:xfrm>
          <a:prstGeom prst="roundRect">
            <a:avLst>
              <a:gd name="adj" fmla="val 1063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8"/>
          <p:cNvSpPr/>
          <p:nvPr/>
        </p:nvSpPr>
        <p:spPr>
          <a:xfrm>
            <a:off x="6684264" y="43159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134" y="4418838"/>
            <a:ext cx="251460" cy="25146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379208" y="4242816"/>
            <a:ext cx="3934663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nightly, not on pull requests</a:t>
            </a:r>
            <a:endParaRPr lang="en-US" sz="1550" dirty="0"/>
          </a:p>
        </p:txBody>
      </p:sp>
      <p:sp>
        <p:nvSpPr>
          <p:cNvPr id="34" name="Text 30"/>
          <p:cNvSpPr txBox="1"/>
          <p:nvPr/>
        </p:nvSpPr>
        <p:spPr>
          <a:xfrm>
            <a:off x="7379208" y="4574413"/>
            <a:ext cx="3934663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expensive by construction. Nightly on the full tree, or incrementally on the changed files in the pull request.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446520" y="5084064"/>
            <a:ext cx="5105095" cy="859536"/>
          </a:xfrm>
          <a:prstGeom prst="roundRect">
            <a:avLst>
              <a:gd name="adj" fmla="val 1063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Shape 32"/>
          <p:cNvSpPr/>
          <p:nvPr/>
        </p:nvSpPr>
        <p:spPr>
          <a:xfrm>
            <a:off x="6684264" y="52852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134" y="5388102"/>
            <a:ext cx="251460" cy="25146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379208" y="5212080"/>
            <a:ext cx="3934663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AI-era use case</a:t>
            </a:r>
            <a:endParaRPr lang="en-US" sz="1550" dirty="0"/>
          </a:p>
        </p:txBody>
      </p:sp>
      <p:sp>
        <p:nvSpPr>
          <p:cNvPr id="39" name="Text 34"/>
          <p:cNvSpPr txBox="1"/>
          <p:nvPr/>
        </p:nvSpPr>
        <p:spPr>
          <a:xfrm>
            <a:off x="7379208" y="5543677"/>
            <a:ext cx="3934663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machine-generated suites: the fastest way to find tests that execute code without asserting on it.</a:t>
            </a:r>
            <a:endParaRPr lang="en-US" sz="1150" dirty="0"/>
          </a:p>
        </p:txBody>
      </p:sp>
      <p:sp>
        <p:nvSpPr>
          <p:cNvPr id="40" name="Text 35"/>
          <p:cNvSpPr txBox="1"/>
          <p:nvPr/>
        </p:nvSpPr>
        <p:spPr>
          <a:xfrm>
            <a:off x="640080" y="592531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 Stryker (JavaScript, TypeScript, C#, Scala)  ·  PIT (Java, Kotlin)  ·  mutmut and Cosmic Ray (Python)  ·  cargo-mutants (Rust)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 against the real dependency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in-memory database is a different database. Test against the engine you deploy, started and destroyed by the test run.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10911535" cy="3163824"/>
          </a:xfrm>
          <a:prstGeom prst="roundRect">
            <a:avLst>
              <a:gd name="adj" fmla="val 2601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859536" y="198424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— THE SAME POSTGRES IMAGE THAT RUNS IN PRODUCTION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40864"/>
            <a:ext cx="10472623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@pytest.fixture(scope="session")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db_url():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PostgresContainer("postgres:17-alpine") as pg:  # pinned, not :latest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run_migrations(pg.get_connection_url())          # migrations under test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pg.get_connection_url()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test_repository_enforces_tenant_isolation(db_url):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 = InvoiceRepository(db_url)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repo.save(Invoice(tenant="A", total=45_000))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repo.find_all(tenant="B") == []      # row-level security applied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pytest.raises(TenantMismatch):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repo.load(invoice_id, tenant="B")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084064"/>
            <a:ext cx="3454298" cy="1152144"/>
          </a:xfrm>
          <a:prstGeom prst="roundRect">
            <a:avLst>
              <a:gd name="adj" fmla="val 8730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859536" y="530352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" y="5398160"/>
            <a:ext cx="231343" cy="23134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26464" y="5266944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engine, disposable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5815584"/>
            <a:ext cx="3015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collations and row-level security behave as in production.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8698" y="5084064"/>
            <a:ext cx="3454298" cy="1152144"/>
          </a:xfrm>
          <a:prstGeom prst="roundRect">
            <a:avLst>
              <a:gd name="adj" fmla="val 8730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3"/>
          <p:cNvSpPr/>
          <p:nvPr/>
        </p:nvSpPr>
        <p:spPr>
          <a:xfrm>
            <a:off x="4588154" y="530352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95" y="5398160"/>
            <a:ext cx="231343" cy="231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155082" y="5266944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Migrations are under test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588154" y="5815584"/>
            <a:ext cx="3015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migration fails the pull request, not the deployment.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97317" y="5084064"/>
            <a:ext cx="3454298" cy="1152144"/>
          </a:xfrm>
          <a:prstGeom prst="roundRect">
            <a:avLst>
              <a:gd name="adj" fmla="val 8730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7"/>
          <p:cNvSpPr/>
          <p:nvPr/>
        </p:nvSpPr>
        <p:spPr>
          <a:xfrm>
            <a:off x="8316773" y="530352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413" y="5398160"/>
            <a:ext cx="231343" cy="23134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883701" y="5266944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Authorisation truly proved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316773" y="5815584"/>
            <a:ext cx="3015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cannot be verified against a mock.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Consumer-driven contract testing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distributed system the most expensive failures live at the boundaries, where both teams' unit tests pass and production still breaks.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2439848" cy="1225296"/>
          </a:xfrm>
          <a:prstGeom prst="roundRect">
            <a:avLst>
              <a:gd name="adj" fmla="val 746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786384" y="1938528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Consumer expects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86000"/>
            <a:ext cx="2183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consumer's test records the request it sends and the response it needs.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3080" y="232257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463976" y="1810512"/>
            <a:ext cx="2439848" cy="1225296"/>
          </a:xfrm>
          <a:prstGeom prst="roundRect">
            <a:avLst>
              <a:gd name="adj" fmla="val 746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3610280" y="1938528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Pact published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2286000"/>
            <a:ext cx="2183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expectation is written to a JSON pact and pushed to a broker.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76976" y="232257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6287872" y="1810512"/>
            <a:ext cx="2439848" cy="1225296"/>
          </a:xfrm>
          <a:prstGeom prst="roundRect">
            <a:avLst>
              <a:gd name="adj" fmla="val 746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 txBox="1"/>
          <p:nvPr/>
        </p:nvSpPr>
        <p:spPr>
          <a:xfrm>
            <a:off x="6434176" y="1938528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Provider verifies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286000"/>
            <a:ext cx="2183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replays every consumer pact against its real implementation in CI.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00871" y="232257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9111767" y="1810512"/>
            <a:ext cx="2439848" cy="1225296"/>
          </a:xfrm>
          <a:prstGeom prst="roundRect">
            <a:avLst>
              <a:gd name="adj" fmla="val 7463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 txBox="1"/>
          <p:nvPr/>
        </p:nvSpPr>
        <p:spPr>
          <a:xfrm>
            <a:off x="9258071" y="1938528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Provider blocked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239783" y="2286000"/>
            <a:ext cx="2183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breaking change fails the provider's build before it can be deployed.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236976"/>
            <a:ext cx="6035040" cy="2962656"/>
          </a:xfrm>
          <a:prstGeom prst="roundRect">
            <a:avLst>
              <a:gd name="adj" fmla="val 2778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 txBox="1"/>
          <p:nvPr/>
        </p:nvSpPr>
        <p:spPr>
          <a:xfrm>
            <a:off x="859536" y="3429000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SIDE — THE EXPECTATION IS THE TEST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" y="3785616"/>
            <a:ext cx="5596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provider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.given("invoice 7c2 exists for tenant A")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.uponReceiving("a request for that invoice")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.withRequest({ method: "GET",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path: "/invoices/7c2",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headers: { Authorization: like("Bearer …") } })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.willRespondWith({ status: 200,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{ id: uuid(), total: integer(45000),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currency: term({ matcher: "NGN|USD",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generate: "NGN" }) } });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76288" y="3236976"/>
            <a:ext cx="4675327" cy="914400"/>
          </a:xfrm>
          <a:prstGeom prst="roundRect">
            <a:avLst>
              <a:gd name="adj" fmla="val 10000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7114032" y="34655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902" y="3568446"/>
            <a:ext cx="251460" cy="2514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808976" y="3364992"/>
            <a:ext cx="350489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and independent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7808976" y="3696589"/>
            <a:ext cx="3504895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environment, no orchestration. Each side runs alone, in seconds.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876288" y="4261104"/>
            <a:ext cx="4675327" cy="914400"/>
          </a:xfrm>
          <a:prstGeom prst="roundRect">
            <a:avLst>
              <a:gd name="adj" fmla="val 10000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8"/>
          <p:cNvSpPr/>
          <p:nvPr/>
        </p:nvSpPr>
        <p:spPr>
          <a:xfrm>
            <a:off x="7114032" y="44897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02" y="4592574"/>
            <a:ext cx="251460" cy="25146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808976" y="4389120"/>
            <a:ext cx="350489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security boundary too</a:t>
            </a:r>
            <a:endParaRPr lang="en-US" sz="1550" dirty="0"/>
          </a:p>
        </p:txBody>
      </p:sp>
      <p:sp>
        <p:nvSpPr>
          <p:cNvPr id="34" name="Text 30"/>
          <p:cNvSpPr txBox="1"/>
          <p:nvPr/>
        </p:nvSpPr>
        <p:spPr>
          <a:xfrm>
            <a:off x="7808976" y="4598791"/>
            <a:ext cx="3504895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authentication header, the error shape and the fields that must never appear — a contract test catches an over-sharing response.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876288" y="5285232"/>
            <a:ext cx="4675327" cy="914400"/>
          </a:xfrm>
          <a:prstGeom prst="roundRect">
            <a:avLst>
              <a:gd name="adj" fmla="val 10000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Shape 32"/>
          <p:cNvSpPr/>
          <p:nvPr/>
        </p:nvSpPr>
        <p:spPr>
          <a:xfrm>
            <a:off x="7114032" y="55138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902" y="5616702"/>
            <a:ext cx="251460" cy="25146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808976" y="5413248"/>
            <a:ext cx="350489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 are not schemas</a:t>
            </a:r>
            <a:endParaRPr lang="en-US" sz="1550" dirty="0"/>
          </a:p>
        </p:txBody>
      </p:sp>
      <p:sp>
        <p:nvSpPr>
          <p:cNvPr id="39" name="Text 34"/>
          <p:cNvSpPr txBox="1"/>
          <p:nvPr/>
        </p:nvSpPr>
        <p:spPr>
          <a:xfrm>
            <a:off x="7808976" y="5640337"/>
            <a:ext cx="3504895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says what may be sent. A pact says what this consumer actually depends on — so you know what you are free to change.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End-to-end: few, critical, and ruthlessly maintained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them for journeys where failure is a business event: sign-in, checkout, payment, onboarding, password reset.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6309360" cy="3163824"/>
          </a:xfrm>
          <a:prstGeom prst="roundRect">
            <a:avLst>
              <a:gd name="adj" fmla="val 2601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859536" y="1984248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— ROLE-BASED SELECTORS, WEB-FIRST ASSERTIONS, NO SLEEPS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40864"/>
            <a:ext cx="5870448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test("customer completes a transfer", async ({ page }) =&gt;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page.goto("/transfer");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page.getByLabel("Recipient account").fill("0123456789");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page.getByLabel("Amount").fill("50000");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page.getByRole("button", { name: "Send" }).click();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auto-waits and retries; no arbitrary timeout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expect(page.getByRole("status"))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.toHaveText("Transfer of ₦50,000 sent");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expect(page.getByTestId("balance"))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.toHaveText("₦450,000");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50608" y="1792224"/>
            <a:ext cx="4401007" cy="1005840"/>
          </a:xfrm>
          <a:prstGeom prst="roundRect">
            <a:avLst>
              <a:gd name="adj" fmla="val 9091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7388352" y="205740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337" y="2164385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101584" y="1920240"/>
            <a:ext cx="3212287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sleep, never sniff CSS classes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8101584" y="2178481"/>
            <a:ext cx="3212287" cy="75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waits and class selectors are the two largest sources of flakiness. Use role, label and test-id selectors with auto-retrying assertions.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50608" y="2944368"/>
            <a:ext cx="4401007" cy="1005840"/>
          </a:xfrm>
          <a:prstGeom prst="roundRect">
            <a:avLst>
              <a:gd name="adj" fmla="val 909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3"/>
          <p:cNvSpPr/>
          <p:nvPr/>
        </p:nvSpPr>
        <p:spPr>
          <a:xfrm>
            <a:off x="7388352" y="320954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337" y="3316529"/>
            <a:ext cx="261518" cy="26151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101584" y="3072384"/>
            <a:ext cx="3212287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test, one user, one journey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8101584" y="3308182"/>
            <a:ext cx="3212287" cy="75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creates its own account and data through the API, then exercises one path. Shared fixtures make failures unattributable.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150608" y="4096512"/>
            <a:ext cx="4401007" cy="1005840"/>
          </a:xfrm>
          <a:prstGeom prst="roundRect">
            <a:avLst>
              <a:gd name="adj" fmla="val 9091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7"/>
          <p:cNvSpPr/>
          <p:nvPr/>
        </p:nvSpPr>
        <p:spPr>
          <a:xfrm>
            <a:off x="7388352" y="43616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337" y="4468673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101584" y="4224528"/>
            <a:ext cx="3212287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assertions downwards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8101584" y="4442913"/>
            <a:ext cx="3212287" cy="75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end-to-end test only checks an HTTP response shape, that assertion belongs in a contract or API test. Keep the tip of the pyramid narrow.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0080" y="5138928"/>
            <a:ext cx="10911535" cy="969264"/>
          </a:xfrm>
          <a:prstGeom prst="roundRect">
            <a:avLst>
              <a:gd name="adj" fmla="val 9434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1"/>
          <p:cNvSpPr/>
          <p:nvPr/>
        </p:nvSpPr>
        <p:spPr>
          <a:xfrm>
            <a:off x="914400" y="53675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" y="5482742"/>
            <a:ext cx="281635" cy="28163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82496" y="5230368"/>
            <a:ext cx="95399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explicit cap: no more than N end-to-end tests, reviewed every quarter. Without a cap the suite grows monotonically, because adding one is always easier than pushing the assertion down a level.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Flaky tests: quarantine, diagnose, then fix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flaky test is worse than no test — it teaches the team to ignore red. Industry telemetry puts the cost at roughly 6–8 engineer-hours per week.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2439848" cy="1225296"/>
          </a:xfrm>
          <a:prstGeom prst="roundRect">
            <a:avLst>
              <a:gd name="adj" fmla="val 746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786384" y="19751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Detect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322576"/>
            <a:ext cx="2183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commit, both pass and fail across reruns. Track statistically; never by anecdote.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3080" y="2359152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463976" y="1847088"/>
            <a:ext cx="2439848" cy="1225296"/>
          </a:xfrm>
          <a:prstGeom prst="roundRect">
            <a:avLst>
              <a:gd name="adj" fmla="val 746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3610280" y="19751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Quarantine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2322576"/>
            <a:ext cx="2183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the required checks, keep it running and recording. Unblock first.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76976" y="2359152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6287872" y="1847088"/>
            <a:ext cx="2439848" cy="1225296"/>
          </a:xfrm>
          <a:prstGeom prst="roundRect">
            <a:avLst>
              <a:gd name="adj" fmla="val 746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 txBox="1"/>
          <p:nvPr/>
        </p:nvSpPr>
        <p:spPr>
          <a:xfrm>
            <a:off x="6434176" y="19751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Diagnose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322576"/>
            <a:ext cx="2183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shared state, test order, real clock, network or unpinned data.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00871" y="2359152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9111767" y="1847088"/>
            <a:ext cx="2439848" cy="1225296"/>
          </a:xfrm>
          <a:prstGeom prst="roundRect">
            <a:avLst>
              <a:gd name="adj" fmla="val 7463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 txBox="1"/>
          <p:nvPr/>
        </p:nvSpPr>
        <p:spPr>
          <a:xfrm>
            <a:off x="9258071" y="19751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Fix or delete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239783" y="2322576"/>
            <a:ext cx="2183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Repair, or delete it and replace the coverage at a lower level.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310128"/>
            <a:ext cx="5291176" cy="2212848"/>
          </a:xfrm>
          <a:prstGeom prst="roundRect">
            <a:avLst>
              <a:gd name="adj" fmla="val 4545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640080" y="3310128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5291176" cy="301752"/>
          </a:xfrm>
          <a:prstGeom prst="rect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 txBox="1"/>
          <p:nvPr/>
        </p:nvSpPr>
        <p:spPr>
          <a:xfrm>
            <a:off x="877824" y="3310128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retries  (a treatment)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096512"/>
            <a:ext cx="4742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genuine race conditions that will recur in production.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unreliability — red stops meaning anything.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CI budget without producing information.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only as a temporary measure that is recorded and reviewed.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0440" y="3310128"/>
            <a:ext cx="5291176" cy="2212848"/>
          </a:xfrm>
          <a:prstGeom prst="roundRect">
            <a:avLst>
              <a:gd name="adj" fmla="val 4545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6260440" y="3310128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6260440" y="3611880"/>
            <a:ext cx="5291176" cy="301752"/>
          </a:xfrm>
          <a:prstGeom prst="rect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 txBox="1"/>
          <p:nvPr/>
        </p:nvSpPr>
        <p:spPr>
          <a:xfrm>
            <a:off x="6498184" y="3310128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Quarantine workflow  (a cure)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534760" y="4096512"/>
            <a:ext cx="47425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still runs and its history is still recorded.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 longer participates in the required-check set, so merges are unblocked.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quarantined test gets an owner and an expiry date.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under 1% flakiness. Above 5%, trust in the pipeline is already gone.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is the worst option: the test stops running, so you lose both the signal and the failure history that would tell you whether the flake is resolving.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data: generated, isolated, synthetic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Nigeria Data Protection Act 2023 and GAID 2025 — as under GDPR — a copy of the production database in a test environment is a processing activity you must justify.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454298" cy="1993392"/>
          </a:xfrm>
          <a:prstGeom prst="roundRect">
            <a:avLst>
              <a:gd name="adj" fmla="val 5046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15798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2264969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7824" y="2779776"/>
            <a:ext cx="297881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data with factories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189478"/>
            <a:ext cx="2978810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function per aggregate, with sensible defaults and explicit overrides for the field under test. Fixtures rot; factories express intent.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8698" y="1920240"/>
            <a:ext cx="3454298" cy="1993392"/>
          </a:xfrm>
          <a:prstGeom prst="roundRect">
            <a:avLst>
              <a:gd name="adj" fmla="val 5046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606442" y="215798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427" y="2264969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06442" y="2779776"/>
            <a:ext cx="297881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 every test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06442" y="3189478"/>
            <a:ext cx="2978810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creates its own tenant, user and records, then rolls back or drops the schema. Shared seed data is the second-largest source of flakiness.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97317" y="1920240"/>
            <a:ext cx="3454298" cy="1993392"/>
          </a:xfrm>
          <a:prstGeom prst="roundRect">
            <a:avLst>
              <a:gd name="adj" fmla="val 5046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335061" y="215798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046" y="2264969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35061" y="2779776"/>
            <a:ext cx="297881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time and randomness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335061" y="3189478"/>
            <a:ext cx="2978810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the clock and the random source. A test that fails at month end, in a different timezone, or once in fifty runs is a design defect.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187952"/>
            <a:ext cx="3454298" cy="1993392"/>
          </a:xfrm>
          <a:prstGeom prst="roundRect">
            <a:avLst>
              <a:gd name="adj" fmla="val 5046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877824" y="442569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09" y="453268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77824" y="5047488"/>
            <a:ext cx="297881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copy personal data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77824" y="5457190"/>
            <a:ext cx="2978810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Synthesise, or de-identify irreversibly. A production dump in a test environment turns every developer laptop into a regulated data store.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68698" y="4187952"/>
            <a:ext cx="3454298" cy="1993392"/>
          </a:xfrm>
          <a:prstGeom prst="roundRect">
            <a:avLst>
              <a:gd name="adj" fmla="val 5046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2"/>
          <p:cNvSpPr/>
          <p:nvPr/>
        </p:nvSpPr>
        <p:spPr>
          <a:xfrm>
            <a:off x="4606442" y="442569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427" y="4532681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606442" y="5047488"/>
            <a:ext cx="297881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secrets, ever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4606442" y="5457190"/>
            <a:ext cx="2978810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credentials are ephemeral and scoped. Add a secret-scanning gate so a real key committed to a fixture fails the build immediately.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97317" y="4187952"/>
            <a:ext cx="3454298" cy="1993392"/>
          </a:xfrm>
          <a:prstGeom prst="roundRect">
            <a:avLst>
              <a:gd name="adj" fmla="val 5046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26"/>
          <p:cNvSpPr/>
          <p:nvPr/>
        </p:nvSpPr>
        <p:spPr>
          <a:xfrm>
            <a:off x="8335061" y="442569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046" y="4532681"/>
            <a:ext cx="261518" cy="26151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35061" y="5047488"/>
            <a:ext cx="297881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golden dataset</a:t>
            </a:r>
            <a:endParaRPr lang="en-US" sz="1700" dirty="0"/>
          </a:p>
        </p:txBody>
      </p:sp>
      <p:sp>
        <p:nvSpPr>
          <p:cNvPr id="36" name="Text 28"/>
          <p:cNvSpPr txBox="1"/>
          <p:nvPr/>
        </p:nvSpPr>
        <p:spPr>
          <a:xfrm>
            <a:off x="8335061" y="5457190"/>
            <a:ext cx="2978810" cy="486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search, ranking, reporting and machine-learning components, hold a small versioned reference set with expected outputs and diff against it.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Coverage: which number, and what it may decide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tells you what was executed. It never tells you what was verified. Use it as a floor and a search tool, never as a goal.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83664"/>
          <a:ext cx="10908792" cy="373075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answers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Reasonable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coverage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lines ran at least once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crude floor; useful for finding wholly untested files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Trivially inflated by tests with no assertions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coverage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decision outcomes were taken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better floor; catches untested else-paths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nothing about boundary values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coverage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of the changed code is covered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gate to enforce: 80% on changed lines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erosion in code nobody has touched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behaviour is actually verified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real quality signal; gate the critical band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Expensive; run nightly rather than per commit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coverage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requirements have a test that traces to them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auditors and ASVS assessments ask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discipline to keep the trace links honest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504688"/>
            <a:ext cx="10911535" cy="804672"/>
          </a:xfrm>
          <a:prstGeom prst="roundRect">
            <a:avLst>
              <a:gd name="adj" fmla="val 11364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6"/>
          <p:cNvSpPr/>
          <p:nvPr/>
        </p:nvSpPr>
        <p:spPr>
          <a:xfrm>
            <a:off x="914400" y="5650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766206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82496" y="5596128"/>
            <a:ext cx="95399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diff coverage and mutation score. Report line coverage as context. Never set an organisation-wide line-coverage target — it is the fastest known way to fill a repository with assertion-free tests.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25880" cy="1325880"/>
          </a:xfrm>
          <a:prstGeom prst="roundRect">
            <a:avLst>
              <a:gd name="adj" fmla="val 22069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Security-first testing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is not a scanner you buy. It is a chain: model the threats, turn each one into an executable test, gate the pipeline on the result, and prove the provenance of everything you did not write yourself.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223760" y="148132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48132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 and shift right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2267712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7223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82128" y="2267712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 with STRIDE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3054096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7223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82128" y="3054096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 as regression tests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 txBox="1"/>
          <p:nvPr/>
        </p:nvSpPr>
        <p:spPr>
          <a:xfrm>
            <a:off x="7223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3840480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 and ASVS 5.0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23760" y="4626864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 txBox="1"/>
          <p:nvPr/>
        </p:nvSpPr>
        <p:spPr>
          <a:xfrm>
            <a:off x="722376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4626864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SCA, DAST, IAST and fuzzing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23760" y="541324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722376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882128" y="541324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SBOM, SLSA, Sigstore, VEX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23760" y="6199632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 txBox="1"/>
          <p:nvPr/>
        </p:nvSpPr>
        <p:spPr>
          <a:xfrm>
            <a:off x="7223760" y="6199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882128" y="6199632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AI-enabled and agentic systems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left and shift right: whole-life assurance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of deployment you prevent. Right of it you detect. A programme that does only one of the two is half a programme.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529029" cy="1371600"/>
          </a:xfrm>
          <a:prstGeom prst="roundRect">
            <a:avLst>
              <a:gd name="adj" fmla="val 6667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786384" y="1975104"/>
            <a:ext cx="12364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322576"/>
            <a:ext cx="12729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model, abuse cases, security requirements from ASVS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23973" y="243230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2516581" y="1847088"/>
            <a:ext cx="1529029" cy="1371600"/>
          </a:xfrm>
          <a:prstGeom prst="roundRect">
            <a:avLst>
              <a:gd name="adj" fmla="val 666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2662885" y="1975104"/>
            <a:ext cx="12364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44597" y="2322576"/>
            <a:ext cx="12729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defaults, IDE linting, secret scanning, peer review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00474" y="243230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4393082" y="1847088"/>
            <a:ext cx="1529029" cy="1371600"/>
          </a:xfrm>
          <a:prstGeom prst="roundRect">
            <a:avLst>
              <a:gd name="adj" fmla="val 666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 txBox="1"/>
          <p:nvPr/>
        </p:nvSpPr>
        <p:spPr>
          <a:xfrm>
            <a:off x="4539386" y="1975104"/>
            <a:ext cx="12364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2322576"/>
            <a:ext cx="12729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SCA, IaC scan, SBOM, signed provenance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76976" y="243230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6269584" y="1847088"/>
            <a:ext cx="1529029" cy="1371600"/>
          </a:xfrm>
          <a:prstGeom prst="roundRect">
            <a:avLst>
              <a:gd name="adj" fmla="val 666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 txBox="1"/>
          <p:nvPr/>
        </p:nvSpPr>
        <p:spPr>
          <a:xfrm>
            <a:off x="6415888" y="1975104"/>
            <a:ext cx="12364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97600" y="2322576"/>
            <a:ext cx="12729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unit tests, DAST, fuzzing, contract checks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53477" y="243230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146085" y="1847088"/>
            <a:ext cx="1529029" cy="1371600"/>
          </a:xfrm>
          <a:prstGeom prst="roundRect">
            <a:avLst>
              <a:gd name="adj" fmla="val 666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8292389" y="1975104"/>
            <a:ext cx="12364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74101" y="2322576"/>
            <a:ext cx="12729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policy, verify signatures and attestations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29978" y="243230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10022586" y="1847088"/>
            <a:ext cx="1529029" cy="1371600"/>
          </a:xfrm>
          <a:prstGeom prst="roundRect">
            <a:avLst>
              <a:gd name="adj" fmla="val 6667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 txBox="1"/>
          <p:nvPr/>
        </p:nvSpPr>
        <p:spPr>
          <a:xfrm>
            <a:off x="10168890" y="1975104"/>
            <a:ext cx="12364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150602" y="2322576"/>
            <a:ext cx="127299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detection, synthetics, chaos, disclosure intake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3346704"/>
            <a:ext cx="5291176" cy="2340864"/>
          </a:xfrm>
          <a:prstGeom prst="roundRect">
            <a:avLst>
              <a:gd name="adj" fmla="val 429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640080" y="3346704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640080" y="3648456"/>
            <a:ext cx="5291176" cy="301752"/>
          </a:xfrm>
          <a:prstGeom prst="rect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 txBox="1"/>
          <p:nvPr/>
        </p:nvSpPr>
        <p:spPr>
          <a:xfrm>
            <a:off x="877824" y="3346704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left  ·  prevention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133088"/>
            <a:ext cx="47425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place to fix, because the author still holds the context.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classes of defect, not just instances — a rule stops it recurring.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cannot see runtime configuration, real traffic or emergent behaviour.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0440" y="3346704"/>
            <a:ext cx="5291176" cy="2340864"/>
          </a:xfrm>
          <a:prstGeom prst="roundRect">
            <a:avLst>
              <a:gd name="adj" fmla="val 4297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Shape 34"/>
          <p:cNvSpPr/>
          <p:nvPr/>
        </p:nvSpPr>
        <p:spPr>
          <a:xfrm>
            <a:off x="6260440" y="3346704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Shape 35"/>
          <p:cNvSpPr/>
          <p:nvPr/>
        </p:nvSpPr>
        <p:spPr>
          <a:xfrm>
            <a:off x="6260440" y="3648456"/>
            <a:ext cx="5291176" cy="301752"/>
          </a:xfrm>
          <a:prstGeom prst="rect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 txBox="1"/>
          <p:nvPr/>
        </p:nvSpPr>
        <p:spPr>
          <a:xfrm>
            <a:off x="6498184" y="3346704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right  ·  detection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6534760" y="4133088"/>
            <a:ext cx="47425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what actually happens: real inputs, real load, real misconfiguration.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monitoring, canary analysis and chaos experiments in production.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every finding here is a defect that already reached users.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7790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 of a mature programme is the ratio: findings caught left of deployment versus findings reported by users, researchers or regulators.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modelling: four questions, six categories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 with a whiteboard, per significant change. The output is a backlog of tests, not a document.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5394960" cy="877824"/>
          </a:xfrm>
          <a:prstGeom prst="roundRect">
            <a:avLst>
              <a:gd name="adj" fmla="val 1041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39112"/>
            <a:ext cx="493776" cy="493776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77824" y="2039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975104"/>
            <a:ext cx="418795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building?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2314448"/>
            <a:ext cx="4187952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data-flow diagram: processes, stores, external entities and trust boundaries.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394960" cy="877824"/>
          </a:xfrm>
          <a:prstGeom prst="roundRect">
            <a:avLst>
              <a:gd name="adj" fmla="val 10417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77824" y="3026664"/>
            <a:ext cx="493776" cy="493776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877824" y="30266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9344" y="2962656"/>
            <a:ext cx="418795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go wrong?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9344" y="3302000"/>
            <a:ext cx="4187952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STRIDE across every element that crosses a trust boundary.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822192"/>
            <a:ext cx="5394960" cy="877824"/>
          </a:xfrm>
          <a:prstGeom prst="roundRect">
            <a:avLst>
              <a:gd name="adj" fmla="val 1041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77824" y="4014216"/>
            <a:ext cx="493776" cy="493776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77824" y="4014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09344" y="3950208"/>
            <a:ext cx="418795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going to do about it?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09344" y="4289552"/>
            <a:ext cx="4187952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Mitigate, transfer, accept with an owner and expiry, or eliminate the feature.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809744"/>
            <a:ext cx="5394960" cy="877824"/>
          </a:xfrm>
          <a:prstGeom prst="roundRect">
            <a:avLst>
              <a:gd name="adj" fmla="val 10417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77824" y="5001768"/>
            <a:ext cx="493776" cy="493776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877824" y="5001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609344" y="4937760"/>
            <a:ext cx="418795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we do a good enough job?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609344" y="5277104"/>
            <a:ext cx="4187952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accepted mitigation becomes an executable test. Review at the next change.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15584" y="1847088"/>
            <a:ext cx="5736031" cy="640080"/>
          </a:xfrm>
          <a:prstGeom prst="roundRect">
            <a:avLst>
              <a:gd name="adj" fmla="val 1285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5980176" y="1938528"/>
            <a:ext cx="457200" cy="457200"/>
          </a:xfrm>
          <a:prstGeom prst="ellipse">
            <a:avLst/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 txBox="1"/>
          <p:nvPr/>
        </p:nvSpPr>
        <p:spPr>
          <a:xfrm>
            <a:off x="598017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6565392" y="1901952"/>
            <a:ext cx="4821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r>
              <a:rPr lang="en-US" sz="1300" b="1" dirty="0">
                <a:solidFill>
                  <a:srgbClr val="0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Authenticity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565392" y="2176272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user, service or signing key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15584" y="2560320"/>
            <a:ext cx="5736031" cy="640080"/>
          </a:xfrm>
          <a:prstGeom prst="roundRect">
            <a:avLst>
              <a:gd name="adj" fmla="val 12857"/>
            </a:avLst>
          </a:prstGeom>
          <a:solidFill>
            <a:srgbClr val="E3EAEC"/>
          </a:solidFill>
          <a:ln w="12700">
            <a:solidFill>
              <a:srgbClr val="E3EAE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5980176" y="2651760"/>
            <a:ext cx="457200" cy="457200"/>
          </a:xfrm>
          <a:prstGeom prst="ellipse">
            <a:avLst/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 txBox="1"/>
          <p:nvPr/>
        </p:nvSpPr>
        <p:spPr>
          <a:xfrm>
            <a:off x="5980176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6565392" y="2615184"/>
            <a:ext cx="4821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r>
              <a:rPr lang="en-US" sz="1300" b="1" dirty="0">
                <a:solidFill>
                  <a:srgbClr val="0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Integrity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565392" y="2889504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Altering data in transit, at rest or in the build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15584" y="3273552"/>
            <a:ext cx="5736031" cy="640080"/>
          </a:xfrm>
          <a:prstGeom prst="roundRect">
            <a:avLst>
              <a:gd name="adj" fmla="val 1285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6"/>
          <p:cNvSpPr/>
          <p:nvPr/>
        </p:nvSpPr>
        <p:spPr>
          <a:xfrm>
            <a:off x="5980176" y="3364992"/>
            <a:ext cx="457200" cy="457200"/>
          </a:xfrm>
          <a:prstGeom prst="ellipse">
            <a:avLst/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 txBox="1"/>
          <p:nvPr/>
        </p:nvSpPr>
        <p:spPr>
          <a:xfrm>
            <a:off x="5980176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6565392" y="3328416"/>
            <a:ext cx="4821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r>
              <a:rPr lang="en-US" sz="1300" b="1" dirty="0">
                <a:solidFill>
                  <a:srgbClr val="0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Non-repudiation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565392" y="3602736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Denying an action the logs cannot prove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815584" y="3986784"/>
            <a:ext cx="5736031" cy="640080"/>
          </a:xfrm>
          <a:prstGeom prst="roundRect">
            <a:avLst>
              <a:gd name="adj" fmla="val 12857"/>
            </a:avLst>
          </a:prstGeom>
          <a:solidFill>
            <a:srgbClr val="E3EAEC"/>
          </a:solidFill>
          <a:ln w="12700">
            <a:solidFill>
              <a:srgbClr val="E3EAE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41"/>
          <p:cNvSpPr/>
          <p:nvPr/>
        </p:nvSpPr>
        <p:spPr>
          <a:xfrm>
            <a:off x="5980176" y="4078224"/>
            <a:ext cx="457200" cy="457200"/>
          </a:xfrm>
          <a:prstGeom prst="ellipse">
            <a:avLst/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42"/>
          <p:cNvSpPr txBox="1"/>
          <p:nvPr/>
        </p:nvSpPr>
        <p:spPr>
          <a:xfrm>
            <a:off x="5980176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900" dirty="0"/>
          </a:p>
        </p:txBody>
      </p:sp>
      <p:sp>
        <p:nvSpPr>
          <p:cNvPr id="45" name="Text 43"/>
          <p:cNvSpPr txBox="1"/>
          <p:nvPr/>
        </p:nvSpPr>
        <p:spPr>
          <a:xfrm>
            <a:off x="6565392" y="4041648"/>
            <a:ext cx="4821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r>
              <a:rPr lang="en-US" sz="1300" b="1" dirty="0">
                <a:solidFill>
                  <a:srgbClr val="0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Confidentiality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565392" y="4315968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Leaking data to an unauthorised party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815584" y="4700016"/>
            <a:ext cx="5736031" cy="640080"/>
          </a:xfrm>
          <a:prstGeom prst="roundRect">
            <a:avLst>
              <a:gd name="adj" fmla="val 1285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Shape 46"/>
          <p:cNvSpPr/>
          <p:nvPr/>
        </p:nvSpPr>
        <p:spPr>
          <a:xfrm>
            <a:off x="5980176" y="4791456"/>
            <a:ext cx="457200" cy="457200"/>
          </a:xfrm>
          <a:prstGeom prst="ellipse">
            <a:avLst/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 txBox="1"/>
          <p:nvPr/>
        </p:nvSpPr>
        <p:spPr>
          <a:xfrm>
            <a:off x="5980176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50" name="Text 48"/>
          <p:cNvSpPr txBox="1"/>
          <p:nvPr/>
        </p:nvSpPr>
        <p:spPr>
          <a:xfrm>
            <a:off x="6565392" y="4754880"/>
            <a:ext cx="4821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r>
              <a:rPr lang="en-US" sz="1300" b="1" dirty="0">
                <a:solidFill>
                  <a:srgbClr val="0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Availability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565392" y="5029200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Exhausting a resource until service fails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815584" y="5413248"/>
            <a:ext cx="5736031" cy="640080"/>
          </a:xfrm>
          <a:prstGeom prst="roundRect">
            <a:avLst>
              <a:gd name="adj" fmla="val 12857"/>
            </a:avLst>
          </a:prstGeom>
          <a:solidFill>
            <a:srgbClr val="E3EAEC"/>
          </a:solidFill>
          <a:ln w="12700">
            <a:solidFill>
              <a:srgbClr val="E3EAE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3" name="Shape 51"/>
          <p:cNvSpPr/>
          <p:nvPr/>
        </p:nvSpPr>
        <p:spPr>
          <a:xfrm>
            <a:off x="5980176" y="5504688"/>
            <a:ext cx="457200" cy="457200"/>
          </a:xfrm>
          <a:prstGeom prst="ellipse">
            <a:avLst/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4" name="Text 52"/>
          <p:cNvSpPr txBox="1"/>
          <p:nvPr/>
        </p:nvSpPr>
        <p:spPr>
          <a:xfrm>
            <a:off x="5980176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900" dirty="0"/>
          </a:p>
        </p:txBody>
      </p:sp>
      <p:sp>
        <p:nvSpPr>
          <p:cNvPr id="55" name="Text 53"/>
          <p:cNvSpPr txBox="1"/>
          <p:nvPr/>
        </p:nvSpPr>
        <p:spPr>
          <a:xfrm>
            <a:off x="6565392" y="5468112"/>
            <a:ext cx="4821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r>
              <a:rPr lang="en-US" sz="1300" b="1" dirty="0">
                <a:solidFill>
                  <a:srgbClr val="0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Authorisation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6565392" y="5742432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rights the principal was never granted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7607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Threat-model whenever a trust boundary moves: a new integration, a new role, a new data store, a new agent with tool access.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threat to executable test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most programmes skip. A threat that does not become a failing test will be reintroduced within two releases.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47088"/>
          <a:ext cx="10908792" cy="416966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(STRIDE)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Abuse 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Executable 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 of privilege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user requests another tenant's invoice by guessing its 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/invoices/{other-tenant-id} as user A returns 404, never 403 with a body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disclosure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error page returns a stack trace containing the connection 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a database failure; assert the response body matches the sanitised error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JWT is replayed after the user's role has been revoked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the role, replay the token, assert 401 within the revocation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build artefact is replaced between build and 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verifies the Sigstore signature and provenance; unsigned artefact is 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unauthenticated endpoint is called ten thousand times a minute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 429 after the configured threshold and that the limiter is per-principal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504688"/>
            <a:ext cx="10911535" cy="804672"/>
          </a:xfrm>
          <a:prstGeom prst="roundRect">
            <a:avLst>
              <a:gd name="adj" fmla="val 11364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6"/>
          <p:cNvSpPr/>
          <p:nvPr/>
        </p:nvSpPr>
        <p:spPr>
          <a:xfrm>
            <a:off x="914400" y="5650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766206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82496" y="5596128"/>
            <a:ext cx="95399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 so that it fails against the vulnerable version first. A security test that has never been seen to fail is an assumption, not a control.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Top 10:2025 — the current working baseline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November 2025, finalised January 2026, from over 175,000 CVE records. Two new categories; SSRF folded into A01.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83664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04672" y="2039112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04672" y="20391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91056" y="1947672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Access Control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591056" y="2249424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explicitly covers BOLA and BFLA; SSRF (CWE-918) absorbed here.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47772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04672" y="2903220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804672" y="29032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91056" y="2811780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Misconfiguration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591056" y="3113532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from fifth to second — continuous deployment without continuous scanning.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04672" y="3767328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04672" y="376732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91056" y="3675888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Supply Chain Failures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591056" y="3977640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and the highest debut ever: dependencies, build systems, distribution.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475988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04672" y="4631436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804672" y="463143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91056" y="4539996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Failures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1591056" y="4841748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framing replaces the old “sensitive data exposure” symptom.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340096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804672" y="5495544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 txBox="1"/>
          <p:nvPr/>
        </p:nvSpPr>
        <p:spPr>
          <a:xfrm>
            <a:off x="804672" y="54955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591056" y="5404104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1591056" y="5705856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command, template and now prompt injection into interpreters.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1296" y="1883664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6415888" y="2039112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 txBox="1"/>
          <p:nvPr/>
        </p:nvSpPr>
        <p:spPr>
          <a:xfrm>
            <a:off x="6415888" y="20391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202272" y="1947672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Insecure Design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7202272" y="2249424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Flaws no amount of implementation care can fix. Threat modelling is the control.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51296" y="2747772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6"/>
          <p:cNvSpPr/>
          <p:nvPr/>
        </p:nvSpPr>
        <p:spPr>
          <a:xfrm>
            <a:off x="6415888" y="2903220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 txBox="1"/>
          <p:nvPr/>
        </p:nvSpPr>
        <p:spPr>
          <a:xfrm>
            <a:off x="6415888" y="29032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202272" y="2811780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Failures</a:t>
            </a:r>
            <a:endParaRPr lang="en-US" sz="1550" dirty="0"/>
          </a:p>
        </p:txBody>
      </p:sp>
      <p:sp>
        <p:nvSpPr>
          <p:cNvPr id="41" name="Text 39"/>
          <p:cNvSpPr txBox="1"/>
          <p:nvPr/>
        </p:nvSpPr>
        <p:spPr>
          <a:xfrm>
            <a:off x="7202272" y="3113532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handling, credential recovery, multi-factor bypass.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251296" y="3611880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41"/>
          <p:cNvSpPr/>
          <p:nvPr/>
        </p:nvSpPr>
        <p:spPr>
          <a:xfrm>
            <a:off x="6415888" y="3767328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42"/>
          <p:cNvSpPr txBox="1"/>
          <p:nvPr/>
        </p:nvSpPr>
        <p:spPr>
          <a:xfrm>
            <a:off x="6415888" y="376732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202272" y="3675888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or Data Integrity Failures</a:t>
            </a:r>
            <a:endParaRPr lang="en-US" sz="1550" dirty="0"/>
          </a:p>
        </p:txBody>
      </p:sp>
      <p:sp>
        <p:nvSpPr>
          <p:cNvPr id="46" name="Text 44"/>
          <p:cNvSpPr txBox="1"/>
          <p:nvPr/>
        </p:nvSpPr>
        <p:spPr>
          <a:xfrm>
            <a:off x="7202272" y="3977640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updates, insecure deserialisation, unsigned artefacts.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251296" y="4475988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Shape 46"/>
          <p:cNvSpPr/>
          <p:nvPr/>
        </p:nvSpPr>
        <p:spPr>
          <a:xfrm>
            <a:off x="6415888" y="4631436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 txBox="1"/>
          <p:nvPr/>
        </p:nvSpPr>
        <p:spPr>
          <a:xfrm>
            <a:off x="6415888" y="463143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7202272" y="4539996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Logging and Alerting Failures</a:t>
            </a:r>
            <a:endParaRPr lang="en-US" sz="1550" dirty="0"/>
          </a:p>
        </p:txBody>
      </p:sp>
      <p:sp>
        <p:nvSpPr>
          <p:cNvPr id="51" name="Text 49"/>
          <p:cNvSpPr txBox="1"/>
          <p:nvPr/>
        </p:nvSpPr>
        <p:spPr>
          <a:xfrm>
            <a:off x="7202272" y="4841748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Renamed: logs nobody acts on have almost no value.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251296" y="5340096"/>
            <a:ext cx="5300320" cy="786384"/>
          </a:xfrm>
          <a:prstGeom prst="roundRect">
            <a:avLst>
              <a:gd name="adj" fmla="val 10465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3" name="Shape 51"/>
          <p:cNvSpPr/>
          <p:nvPr/>
        </p:nvSpPr>
        <p:spPr>
          <a:xfrm>
            <a:off x="6415888" y="5495544"/>
            <a:ext cx="658368" cy="475488"/>
          </a:xfrm>
          <a:prstGeom prst="roundRect">
            <a:avLst>
              <a:gd name="adj" fmla="val 25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4" name="Text 52"/>
          <p:cNvSpPr txBox="1"/>
          <p:nvPr/>
        </p:nvSpPr>
        <p:spPr>
          <a:xfrm>
            <a:off x="6415888" y="54955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7202272" y="5404104"/>
            <a:ext cx="418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Mishandling of Exceptional Conditions</a:t>
            </a:r>
            <a:endParaRPr lang="en-US" sz="1550" dirty="0"/>
          </a:p>
        </p:txBody>
      </p:sp>
      <p:sp>
        <p:nvSpPr>
          <p:cNvPr id="56" name="Text 54"/>
          <p:cNvSpPr txBox="1"/>
          <p:nvPr/>
        </p:nvSpPr>
        <p:spPr>
          <a:xfrm>
            <a:off x="7202272" y="5705856"/>
            <a:ext cx="418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improper error handling, logic errors, and failing open.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ORACLE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ASVS 5.0 — “is it secure?” as a checklist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5.0.0, released May 2025: roughly 350 requirements across 17 chapters. This is what you test against.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3442106" cy="2066544"/>
          </a:xfrm>
          <a:prstGeom prst="roundRect">
            <a:avLst>
              <a:gd name="adj" fmla="val 486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29968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77824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651760"/>
            <a:ext cx="296661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 ·  ~20% of requirements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355848"/>
            <a:ext cx="296661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First-layer defences against the most commonly exploited weaknesses — a floor for anything internet-facing.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4794" y="1792224"/>
            <a:ext cx="3442106" cy="2066544"/>
          </a:xfrm>
          <a:prstGeom prst="roundRect">
            <a:avLst>
              <a:gd name="adj" fmla="val 4867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612538" y="2029968"/>
            <a:ext cx="475488" cy="475488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4612538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12538" y="2651760"/>
            <a:ext cx="29666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 ·  ~50%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12538" y="3076956"/>
            <a:ext cx="296661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common, more complex attack patterns. The correct default for any application handling personal or financial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9509" y="1792224"/>
            <a:ext cx="3442106" cy="2066544"/>
          </a:xfrm>
          <a:prstGeom prst="roundRect">
            <a:avLst>
              <a:gd name="adj" fmla="val 4867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347253" y="2029968"/>
            <a:ext cx="475488" cy="475488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347253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47253" y="2651760"/>
            <a:ext cx="29666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 ·  ~30%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47253" y="3076956"/>
            <a:ext cx="296661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 for the highest-assurance contexts: payments, healthcare, critical infrastructure.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3454298" cy="1700784"/>
          </a:xfrm>
          <a:prstGeom prst="roundRect">
            <a:avLst>
              <a:gd name="adj" fmla="val 5914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59536" y="424281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341571"/>
            <a:ext cx="241402" cy="24140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444752" y="4206240"/>
            <a:ext cx="24301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 with the version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" y="4773168"/>
            <a:ext cx="3015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v5.0.0-6.2.1, not “ASVS 6.2.1”. Numbering changed substantially between 4.x and 5.0, so an uncited reference is ambiguous.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68698" y="4023360"/>
            <a:ext cx="3454298" cy="1700784"/>
          </a:xfrm>
          <a:prstGeom prst="roundRect">
            <a:avLst>
              <a:gd name="adj" fmla="val 5914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5"/>
          <p:cNvSpPr/>
          <p:nvPr/>
        </p:nvSpPr>
        <p:spPr>
          <a:xfrm>
            <a:off x="4588154" y="424281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910" y="4341571"/>
            <a:ext cx="241402" cy="24140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173370" y="4206240"/>
            <a:ext cx="24301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requirement to test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4588154" y="4773168"/>
            <a:ext cx="3015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test identifier → last-run result. This three-column table is the single most requested artefact in an assessment.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097317" y="4023360"/>
            <a:ext cx="3454298" cy="1700784"/>
          </a:xfrm>
          <a:prstGeom prst="roundRect">
            <a:avLst>
              <a:gd name="adj" fmla="val 5914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29"/>
          <p:cNvSpPr/>
          <p:nvPr/>
        </p:nvSpPr>
        <p:spPr>
          <a:xfrm>
            <a:off x="8316773" y="424281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528" y="4341571"/>
            <a:ext cx="241402" cy="24140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901989" y="4206240"/>
            <a:ext cx="24301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honestly, hold the line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8316773" y="4773168"/>
            <a:ext cx="3015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level targeted and which chapters are out of scope, with reasons. A documented partial claim is credible; an unqualified one is not.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640080" y="5833872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standards from the same family: MASVS for mobile, the API Security Top 10 for service boundaries, and AISVS for AI-enabled components.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scanning stack: what each tool misses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a characteristic blind spot. Buying more of the same category does not close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10512"/>
          <a:ext cx="10908792" cy="385572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class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and data flow: injection sinks, unsafe deserialisation, hardcoded secrets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configuration, business logic, authorisation intent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request; blocking on 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and transitive dependencies against advisory databases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vulnerable path is reachable in your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 and nightly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scanning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in code, history, notebooks and CI logs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held only in a running process or a misconfigured 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and pull 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/ container 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Terraform, Kubernetes and Dockerfile misconfiguration; base-image CVEs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after deployment; anything changed by hand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Build; blocking on 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running application: headers, TLS, injection, access-control probes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behind authentication it cannot reach; logic flaws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Staging, nightly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IAST /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Instrumented execution — fewer false positives than SAST or DAST 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paths your tests actually exercise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Alongside the test suite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760720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6"/>
          <p:cNvSpPr/>
          <p:nvPr/>
        </p:nvSpPr>
        <p:spPr>
          <a:xfrm>
            <a:off x="914400" y="57424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857646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82496" y="5852160"/>
            <a:ext cx="9539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finds broken access control, because none of them knows who should be allowed to do what. That is a test you must write by hand — which is why A01 has stayed at number one.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the tests no scanner can write for you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object-level authorisation (BOLA) and broken function-level authorisation (BFLA) are the most exploited patterns in API-heavy systems.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10911535" cy="2871216"/>
          </a:xfrm>
          <a:prstGeom prst="roundRect">
            <a:avLst>
              <a:gd name="adj" fmla="val 2866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859536" y="198424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TEST OVER PRINCIPALS × RESOURCES × OPERATIONS — GENERATED, NOT HAND-LISTED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40864"/>
            <a:ext cx="1047262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PRINCIPALS  = ["owner", "same_tenant_viewer", "other_tenant_admin", "anonymous"]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  = [("GET", 200), ("PATCH", 200), ("DELETE", 204)]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     = {("owner", "GET"), ("owner", "PATCH"), ("owner", "DELETE"),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("same_tenant_viewer", "GET")}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@pytest.mark.parametrize("who", PRINCIPALS)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@pytest.mark.parametrize("verb,ok_status", OPERATIONS)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test_invoice_authorisation_matrix(client, invoice, who, verb, ok_status):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client.request(verb, f"/invoices/{invoice.id}", auth=as_(who))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(who, verb) in ALLOWED: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response.status_code == ok_status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response.status_code in (401, 404)      # never 403 with a body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invoice.id not in response.text          # no existence disclosure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791456"/>
            <a:ext cx="3454298" cy="1316736"/>
          </a:xfrm>
          <a:prstGeom prst="roundRect">
            <a:avLst>
              <a:gd name="adj" fmla="val 7639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859536" y="5010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" y="5105552"/>
            <a:ext cx="231343" cy="23134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26464" y="4974336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Enumerate, do not sample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552297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role or endpoint extends the matrix, so a coverage gap becomes a failing test.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8698" y="4791456"/>
            <a:ext cx="3454298" cy="1316736"/>
          </a:xfrm>
          <a:prstGeom prst="roundRect">
            <a:avLst>
              <a:gd name="adj" fmla="val 7639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3"/>
          <p:cNvSpPr/>
          <p:nvPr/>
        </p:nvSpPr>
        <p:spPr>
          <a:xfrm>
            <a:off x="4588154" y="5010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95" y="5105552"/>
            <a:ext cx="231343" cy="231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155082" y="4974336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what is not returned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588154" y="552297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identifier, no stack trace, no hostname, no other tenant's field. Absence assertions catch disclosure.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97317" y="4791456"/>
            <a:ext cx="3454298" cy="1316736"/>
          </a:xfrm>
          <a:prstGeom prst="roundRect">
            <a:avLst>
              <a:gd name="adj" fmla="val 7639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7"/>
          <p:cNvSpPr/>
          <p:nvPr/>
        </p:nvSpPr>
        <p:spPr>
          <a:xfrm>
            <a:off x="8316773" y="5010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413" y="5105552"/>
            <a:ext cx="231343" cy="23134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883701" y="4974336"/>
            <a:ext cx="24484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outside the model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316773" y="5522976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features especially: never delegate the access decision to the model. Check, then call.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Fuzzing: automated adversarial input at scale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 fuzzers mutate inputs and keep the ones that reach new code paths. They find what neither you nor a scanner thought to try.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6035040" cy="3785616"/>
          </a:xfrm>
          <a:prstGeom prst="roundRect">
            <a:avLst>
              <a:gd name="adj" fmla="val 2174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859536" y="2039112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FUZZ TARGET IS A PROPERTY TEST WITH A HOSTILE GENERATOR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95728"/>
            <a:ext cx="55961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Any byte string must either parse or raise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InvalidStatement — never crash, never hang,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execute.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TestOneInput(data: bytes):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stmt = parse_bank_statement(data)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InvalidStatement: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stmt.total == sum(l.amount for l in stmt.lines)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stmt.currency in SUPPORTED_CURRENCIES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atheris.Setup(sys.argv, TestOneInput)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atheris.Fuzz()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76288" y="1847088"/>
            <a:ext cx="4675327" cy="905256"/>
          </a:xfrm>
          <a:prstGeom prst="roundRect">
            <a:avLst>
              <a:gd name="adj" fmla="val 10101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7114032" y="207111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902" y="2173986"/>
            <a:ext cx="251460" cy="2514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808976" y="1975104"/>
            <a:ext cx="350489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 the parsers first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7808976" y="2306701"/>
            <a:ext cx="3504895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formats, protocol decoders, deserialisers, template engines — anything consuming untrusted bytes.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76288" y="2807208"/>
            <a:ext cx="4675327" cy="905256"/>
          </a:xfrm>
          <a:prstGeom prst="roundRect">
            <a:avLst>
              <a:gd name="adj" fmla="val 1010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3"/>
          <p:cNvSpPr/>
          <p:nvPr/>
        </p:nvSpPr>
        <p:spPr>
          <a:xfrm>
            <a:off x="7114032" y="30312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02" y="3134106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808976" y="2935224"/>
            <a:ext cx="350489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the corpus, then keep it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7808976" y="3266821"/>
            <a:ext cx="3504895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real valid inputs. Commit the corpus and every crash reproducer as permanent regression tests.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76288" y="3767328"/>
            <a:ext cx="4675327" cy="905256"/>
          </a:xfrm>
          <a:prstGeom prst="roundRect">
            <a:avLst>
              <a:gd name="adj" fmla="val 1010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7"/>
          <p:cNvSpPr/>
          <p:nvPr/>
        </p:nvSpPr>
        <p:spPr>
          <a:xfrm>
            <a:off x="7114032" y="399135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902" y="4094226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808976" y="3895344"/>
            <a:ext cx="350489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Continuous, not one-off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7808976" y="4226941"/>
            <a:ext cx="3504895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process measured in CPU-days: nightly on changed targets, continuously on the critical ones.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876288" y="4727448"/>
            <a:ext cx="4675327" cy="905256"/>
          </a:xfrm>
          <a:prstGeom prst="roundRect">
            <a:avLst>
              <a:gd name="adj" fmla="val 10101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1"/>
          <p:cNvSpPr/>
          <p:nvPr/>
        </p:nvSpPr>
        <p:spPr>
          <a:xfrm>
            <a:off x="7114032" y="49514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902" y="5054346"/>
            <a:ext cx="251460" cy="2514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808976" y="4855464"/>
            <a:ext cx="350489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by ecosystem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7808976" y="5187061"/>
            <a:ext cx="3504895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libFuzzer and AFL++ for C/C++; cargo-fuzz for Rust; Jazzer for the JVM; Atheris for Python; OSS-Fuzz for open source.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40080" y="5742432"/>
            <a:ext cx="10911535" cy="493776"/>
          </a:xfrm>
          <a:prstGeom prst="roundRect">
            <a:avLst>
              <a:gd name="adj" fmla="val 18519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5"/>
          <p:cNvSpPr/>
          <p:nvPr/>
        </p:nvSpPr>
        <p:spPr>
          <a:xfrm>
            <a:off x="914400" y="573328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14" y="5848502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82496" y="5833872"/>
            <a:ext cx="9539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fuzzer an oracle. “Does not crash” is a weak property; “parses or raises the declared exception, and the invariants hold” is a strong one that catches logic faults as well as memory faults.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A03:2025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chain: prove what you shipped, and how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compromise was the second most common initial attack vector in 2026 and tied for the longest breach lifecycle at 258 days.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36896" cy="1901952"/>
          </a:xfrm>
          <a:prstGeom prst="roundRect">
            <a:avLst>
              <a:gd name="adj" fmla="val 52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59536" y="204825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" y="2151126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011680"/>
            <a:ext cx="429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SBOM  —  what is inside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2596896"/>
            <a:ext cx="489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at build time, when the dependency graph is fully resolved. SPDX for compliance audiences, CycloneDX for security tooling. Tools: Syft, Trivy, native build plugins.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4720" y="1828800"/>
            <a:ext cx="5336896" cy="1901952"/>
          </a:xfrm>
          <a:prstGeom prst="roundRect">
            <a:avLst>
              <a:gd name="adj" fmla="val 528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6434176" y="204825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046" y="2151126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37680" y="2011680"/>
            <a:ext cx="429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SLSA  —  how it was built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34176" y="2596896"/>
            <a:ext cx="489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provenance naming the builder, the source commit and the inputs. Build L1 is one pipeline change; L2 adds a platform-signed attestation; L3 a hardened, non-falsifiable builder.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3968496"/>
            <a:ext cx="5336896" cy="1901952"/>
          </a:xfrm>
          <a:prstGeom prst="roundRect">
            <a:avLst>
              <a:gd name="adj" fmla="val 52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59536" y="4187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" y="4290822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3040" y="4151376"/>
            <a:ext cx="429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Sigstore  —  who vouches for it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59536" y="4736592"/>
            <a:ext cx="489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signing with short-lived certificates bound to an OIDC identity, recorded in a public transparency log. Verify at deploy time with cosign, not merely at publish time.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14720" y="3968496"/>
            <a:ext cx="5336896" cy="1901952"/>
          </a:xfrm>
          <a:prstGeom prst="roundRect">
            <a:avLst>
              <a:gd name="adj" fmla="val 528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6434176" y="4187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046" y="4290822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37680" y="4151376"/>
            <a:ext cx="429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VEX  —  which CVEs actually matter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434176" y="4736592"/>
            <a:ext cx="489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producer assertion that a CVE flagged in the SBOM is or is not exploitable in this product. CSAF VEX and CycloneDX VEX. It stops a 400-finding report becoming a 400-ticket backlog.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40080" y="5943600"/>
            <a:ext cx="10911535" cy="438912"/>
          </a:xfrm>
          <a:prstGeom prst="roundRect">
            <a:avLst>
              <a:gd name="adj" fmla="val 18750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2"/>
          <p:cNvSpPr txBox="1"/>
          <p:nvPr/>
        </p:nvSpPr>
        <p:spPr>
          <a:xfrm>
            <a:off x="859536" y="6163056"/>
            <a:ext cx="1047262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 --ignore-scripts · pin Actions to a SHA · cosign verify-attestation · fail closed if unverifiable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gates: what blocks, what only warns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unwritten gate is negotiated under deadline pressure every time. A written one is negotiated once, in daylight.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47088"/>
          <a:ext cx="10908792" cy="422452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 build when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Formatting, lint, secret 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credential pattern is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Unit, contract, integration, SAST, SCA, IaC scan, diff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test fails · new critical or high finding · diff coverage &lt; 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to 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suite, accessibility scan, SBOM generation, provenance signing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suite fails · SBOM or attestation cannot be produced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Pre-release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 against staging, performance profile, licence policy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high DAST finding · p95 regression beyond 10% · forbidden licence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testing, fuzzing, full browser matrix, chaos experiments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reported to the team, reviewed at the sprint boundary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and provenance verification, policy admission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 unsigned, provenance missing, or policy denies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testing, red teaming and bug bounty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products. Buying the wrong one is the most common way to spend a security budget without reducing risk.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442106" cy="3127248"/>
          </a:xfrm>
          <a:prstGeom prst="roundRect">
            <a:avLst>
              <a:gd name="adj" fmla="val 3216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2191817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7824" y="2706624"/>
            <a:ext cx="29666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131820"/>
            <a:ext cx="2966618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Time-boxed, scoped assessment of a defined target against a defined standard.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for: ASVS-mapped findings, reproduction steps, and a retest of the fixes.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annually for critical systems, and after any significant architectural change.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74794" y="1847088"/>
            <a:ext cx="3442106" cy="3127248"/>
          </a:xfrm>
          <a:prstGeom prst="roundRect">
            <a:avLst>
              <a:gd name="adj" fmla="val 3216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612538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523" y="2191817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2538" y="2706624"/>
            <a:ext cx="29666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3131820"/>
            <a:ext cx="2966618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Objective-driven adversary simulation across people, process and technology, usually without the defenders' knowledge.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for: did we detect it, how fast, and what did the responders actually do?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valuable once detection and response exist to be tested.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09509" y="1847088"/>
            <a:ext cx="3442106" cy="3127248"/>
          </a:xfrm>
          <a:prstGeom prst="roundRect">
            <a:avLst>
              <a:gd name="adj" fmla="val 3216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347253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238" y="2191817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47253" y="2706624"/>
            <a:ext cx="29666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bounty &amp; disclosure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347253" y="3131820"/>
            <a:ext cx="2966618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crowd-sourced, paid on results.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a published security.txt and a vulnerability disclosure policy with a response commitment.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disclosure only. A bounty opened before triage capacity exists damages the relationship it depends 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5193792"/>
            <a:ext cx="10911535" cy="950976"/>
          </a:xfrm>
          <a:prstGeom prst="roundRect">
            <a:avLst>
              <a:gd name="adj" fmla="val 9615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914400" y="541324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" y="552846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82496" y="5285232"/>
            <a:ext cx="95399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is a substitute for the automated suite. Their purpose is to find what your model of the system missed — so every finding should end its life as a new automated regression test.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AI-enabled and agentic systems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OWASP Top 10 for LLM Applications governs what a model says. The Top 10 for Agentic Applications (ASI01–ASI10, published December 2025) governs what a system does.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478682" cy="1737360"/>
          </a:xfrm>
          <a:prstGeom prst="roundRect">
            <a:avLst>
              <a:gd name="adj" fmla="val 5789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84832"/>
            <a:ext cx="475488" cy="475488"/>
          </a:xfrm>
          <a:prstGeom prst="ellipse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77824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706624"/>
            <a:ext cx="3003194" cy="3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hijack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2960532"/>
            <a:ext cx="30031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hidden in the data an agent reads redirect its objective. Test with adversarial documents in every ingested channel.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6506" y="1847088"/>
            <a:ext cx="3478682" cy="1737360"/>
          </a:xfrm>
          <a:prstGeom prst="roundRect">
            <a:avLst>
              <a:gd name="adj" fmla="val 5789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594250" y="2084832"/>
            <a:ext cx="475488" cy="475488"/>
          </a:xfrm>
          <a:prstGeom prst="ellipse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459425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94250" y="2706624"/>
            <a:ext cx="3003194" cy="3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misuse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594250" y="2977948"/>
            <a:ext cx="30031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tools driven to destructive ends. Test tool arguments against an allow-list and assert on refusals.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72933" y="1847088"/>
            <a:ext cx="3478682" cy="1737360"/>
          </a:xfrm>
          <a:prstGeom prst="roundRect">
            <a:avLst>
              <a:gd name="adj" fmla="val 5789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310677" y="2084832"/>
            <a:ext cx="475488" cy="475488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310677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10677" y="2706624"/>
            <a:ext cx="3003194" cy="3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privilege abuse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310677" y="2969238"/>
            <a:ext cx="30031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inheriting broad credentials. Test that every tool call carries the end user's scope, not a service identity.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822192"/>
            <a:ext cx="3478682" cy="1737360"/>
          </a:xfrm>
          <a:prstGeom prst="roundRect">
            <a:avLst>
              <a:gd name="adj" fmla="val 5789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77824" y="4059936"/>
            <a:ext cx="475488" cy="475488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877824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ASI05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4681728"/>
            <a:ext cx="3003194" cy="3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Unexpected code execution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4987885"/>
            <a:ext cx="30031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reaching an interpreter. Test the sandbox boundary, not just the prompt filter.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56506" y="3822192"/>
            <a:ext cx="3478682" cy="1737360"/>
          </a:xfrm>
          <a:prstGeom prst="roundRect">
            <a:avLst>
              <a:gd name="adj" fmla="val 5789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4594250" y="4059936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 txBox="1"/>
          <p:nvPr/>
        </p:nvSpPr>
        <p:spPr>
          <a:xfrm>
            <a:off x="459425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ASI06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594250" y="4681728"/>
            <a:ext cx="3003194" cy="3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context poisoning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4594250" y="4944339"/>
            <a:ext cx="30031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retaining an attacker's instruction. Test that a poisoned turn does not survive into the next session.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72933" y="3822192"/>
            <a:ext cx="3478682" cy="1737360"/>
          </a:xfrm>
          <a:prstGeom prst="roundRect">
            <a:avLst>
              <a:gd name="adj" fmla="val 5789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8310677" y="4059936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 txBox="1"/>
          <p:nvPr/>
        </p:nvSpPr>
        <p:spPr>
          <a:xfrm>
            <a:off x="8310677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ASI10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310677" y="4681728"/>
            <a:ext cx="3003194" cy="3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Rogue agents &amp; blast radius</a:t>
            </a:r>
            <a:endParaRPr lang="en-US" sz="1650" dirty="0"/>
          </a:p>
        </p:txBody>
      </p:sp>
      <p:sp>
        <p:nvSpPr>
          <p:cNvPr id="36" name="Text 34"/>
          <p:cNvSpPr txBox="1"/>
          <p:nvPr/>
        </p:nvSpPr>
        <p:spPr>
          <a:xfrm>
            <a:off x="8310677" y="4918217"/>
            <a:ext cx="30031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kill switch, the spend cap, and the rollback. Assume the agent will do the worst thing its permissions allow.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650992"/>
            <a:ext cx="10911535" cy="603504"/>
          </a:xfrm>
          <a:prstGeom prst="roundRect">
            <a:avLst>
              <a:gd name="adj" fmla="val 15152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6"/>
          <p:cNvSpPr/>
          <p:nvPr/>
        </p:nvSpPr>
        <p:spPr>
          <a:xfrm>
            <a:off x="914400" y="56967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5811926"/>
            <a:ext cx="281635" cy="281635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682496" y="5742432"/>
            <a:ext cx="98691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agency, not merely least privilege: autonomy is a capability granted deliberately and tested at its boundary. Evaluate model behaviour statistically against a scored set; gate the controls around it — authorisation, spend limits, sandboxing, human approval — deterministically.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25880" cy="1325880"/>
          </a:xfrm>
          <a:prstGeom prst="roundRect">
            <a:avLst>
              <a:gd name="adj" fmla="val 22069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&amp; production testing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correctness is the easy half. Systems fail in production because of latency under load, a dependency that never returned, a screen reader that could not read a label, or a change nobody could observe going wrong.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223760" y="148132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48132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against service objectives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2267712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7223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82128" y="2267712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and chaos engineering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3054096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7223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82128" y="3054096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and WCAG 2.2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 txBox="1"/>
          <p:nvPr/>
        </p:nvSpPr>
        <p:spPr>
          <a:xfrm>
            <a:off x="7223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3840480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Observability-driven testing and synthetics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23760" y="4626864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 txBox="1"/>
          <p:nvPr/>
        </p:nvSpPr>
        <p:spPr>
          <a:xfrm>
            <a:off x="722376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4626864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 and safe rollback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against service objectives, not a feeling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“Acceptable performance” is unfalsifiable. A service-level objective is a number, a percentile, a load profile and a window.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883664"/>
          <a:ext cx="5486400" cy="3054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1883664"/>
            <a:ext cx="5059375" cy="3054096"/>
          </a:xfrm>
          <a:prstGeom prst="roundRect">
            <a:avLst>
              <a:gd name="adj" fmla="val 2695"/>
            </a:avLst>
          </a:prstGeom>
          <a:solidFill>
            <a:srgbClr val="10222B"/>
          </a:solidFill>
          <a:ln w="12700">
            <a:solidFill>
              <a:srgbClr val="10222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6"/>
          <p:cNvSpPr txBox="1"/>
          <p:nvPr/>
        </p:nvSpPr>
        <p:spPr>
          <a:xfrm>
            <a:off x="6711696" y="2075688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— THE OBJECTIVE IS THE ASSERTION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711696" y="2432304"/>
            <a:ext cx="462046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options =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stages: [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duration: "2m", target: 200 },   // ramp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duration: "5m", target: 200 },   // steady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duration: "2m", target: 0 },     // ramp down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thresholds: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http_req_duration: ["p(95)&lt;250","p(99)&lt;800"],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http_req_failed:   ["rate&lt;0.001"],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checks:            ["rate&gt;0.99"],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7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 // breached -&gt; non-zero exit -&gt; build fails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5120640"/>
            <a:ext cx="2439848" cy="859536"/>
          </a:xfrm>
          <a:prstGeom prst="roundRect">
            <a:avLst>
              <a:gd name="adj" fmla="val 1063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9"/>
          <p:cNvSpPr txBox="1"/>
          <p:nvPr/>
        </p:nvSpPr>
        <p:spPr>
          <a:xfrm>
            <a:off x="786384" y="5248656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5596128"/>
            <a:ext cx="218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peak, sustained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153080" y="544982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2"/>
          <p:cNvSpPr/>
          <p:nvPr/>
        </p:nvSpPr>
        <p:spPr>
          <a:xfrm>
            <a:off x="3463976" y="5120640"/>
            <a:ext cx="2439848" cy="859536"/>
          </a:xfrm>
          <a:prstGeom prst="roundRect">
            <a:avLst>
              <a:gd name="adj" fmla="val 1063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3"/>
          <p:cNvSpPr txBox="1"/>
          <p:nvPr/>
        </p:nvSpPr>
        <p:spPr>
          <a:xfrm>
            <a:off x="3610280" y="5248656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591992" y="5596128"/>
            <a:ext cx="218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limit; how it breaks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76976" y="544982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6"/>
          <p:cNvSpPr/>
          <p:nvPr/>
        </p:nvSpPr>
        <p:spPr>
          <a:xfrm>
            <a:off x="6287872" y="5120640"/>
            <a:ext cx="2439848" cy="859536"/>
          </a:xfrm>
          <a:prstGeom prst="roundRect">
            <a:avLst>
              <a:gd name="adj" fmla="val 1063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7"/>
          <p:cNvSpPr txBox="1"/>
          <p:nvPr/>
        </p:nvSpPr>
        <p:spPr>
          <a:xfrm>
            <a:off x="6434176" y="5248656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Soak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15888" y="5596128"/>
            <a:ext cx="218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steady; leaks and drift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800871" y="544982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0"/>
          <p:cNvSpPr/>
          <p:nvPr/>
        </p:nvSpPr>
        <p:spPr>
          <a:xfrm>
            <a:off x="9111767" y="5120640"/>
            <a:ext cx="2439848" cy="859536"/>
          </a:xfrm>
          <a:prstGeom prst="roundRect">
            <a:avLst>
              <a:gd name="adj" fmla="val 1063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1"/>
          <p:cNvSpPr txBox="1"/>
          <p:nvPr/>
        </p:nvSpPr>
        <p:spPr>
          <a:xfrm>
            <a:off x="9258071" y="5248656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Spike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39783" y="5596128"/>
            <a:ext cx="218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surge; autoscaling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engineering: experiments, not outages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chaos experiment has a hypothesis, a blast radius, a stop condition and a rollback. Without those four it is simply an incident you caused.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2439848" cy="1335024"/>
          </a:xfrm>
          <a:prstGeom prst="roundRect">
            <a:avLst>
              <a:gd name="adj" fmla="val 6849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786384" y="19751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Steady state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322576"/>
            <a:ext cx="2183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metric that means “working”: successful checkouts per minute, not CPU.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3080" y="241401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463976" y="1847088"/>
            <a:ext cx="2439848" cy="1335024"/>
          </a:xfrm>
          <a:prstGeom prst="roundRect">
            <a:avLst>
              <a:gd name="adj" fmla="val 6849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3610280" y="19751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Hypothesise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2322576"/>
            <a:ext cx="2183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payments service returns 500 for 60 s, checkout degrades but does not fail.”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76976" y="241401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6287872" y="1847088"/>
            <a:ext cx="2439848" cy="1335024"/>
          </a:xfrm>
          <a:prstGeom prst="roundRect">
            <a:avLst>
              <a:gd name="adj" fmla="val 6849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 txBox="1"/>
          <p:nvPr/>
        </p:nvSpPr>
        <p:spPr>
          <a:xfrm>
            <a:off x="6434176" y="19751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Inject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322576"/>
            <a:ext cx="2183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blast radius first: one instance, one region, off-peak, with a stop button.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00871" y="241401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9111767" y="1847088"/>
            <a:ext cx="2439848" cy="1335024"/>
          </a:xfrm>
          <a:prstGeom prst="roundRect">
            <a:avLst>
              <a:gd name="adj" fmla="val 6849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 txBox="1"/>
          <p:nvPr/>
        </p:nvSpPr>
        <p:spPr>
          <a:xfrm>
            <a:off x="9258071" y="19751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Measure &amp; fix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239783" y="2322576"/>
            <a:ext cx="2183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steady state. Every surprise becomes a test and a runbook entry.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346704"/>
            <a:ext cx="2549576" cy="2157984"/>
          </a:xfrm>
          <a:prstGeom prst="roundRect">
            <a:avLst>
              <a:gd name="adj" fmla="val 466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77824" y="358444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3691433"/>
            <a:ext cx="261518" cy="26151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77824" y="4206240"/>
            <a:ext cx="2074088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&amp; failure injection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77824" y="4848352"/>
            <a:ext cx="2074088" cy="4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down, or returning malformed data. Assert that timeouts, retries and circuit breakers engage.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427400" y="3346704"/>
            <a:ext cx="2549576" cy="2157984"/>
          </a:xfrm>
          <a:prstGeom prst="roundRect">
            <a:avLst>
              <a:gd name="adj" fmla="val 466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5"/>
          <p:cNvSpPr/>
          <p:nvPr/>
        </p:nvSpPr>
        <p:spPr>
          <a:xfrm>
            <a:off x="3665144" y="358444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129" y="3691433"/>
            <a:ext cx="261518" cy="26151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3665144" y="4206240"/>
            <a:ext cx="2074088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faults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3665144" y="4848352"/>
            <a:ext cx="2074088" cy="4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loss, zone loss, disk pressure, clock skew, DNS failure. Verify your own recovery path.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214720" y="3346704"/>
            <a:ext cx="2549576" cy="2157984"/>
          </a:xfrm>
          <a:prstGeom prst="roundRect">
            <a:avLst>
              <a:gd name="adj" fmla="val 4661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29"/>
          <p:cNvSpPr/>
          <p:nvPr/>
        </p:nvSpPr>
        <p:spPr>
          <a:xfrm>
            <a:off x="6452464" y="358444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448" y="3691433"/>
            <a:ext cx="261518" cy="26151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452464" y="4206240"/>
            <a:ext cx="2074088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452464" y="4600448"/>
            <a:ext cx="2074088" cy="66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sheds the right function first. Read-only beats an error page; a cached price beats none.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9002039" y="3346704"/>
            <a:ext cx="2549576" cy="2157984"/>
          </a:xfrm>
          <a:prstGeom prst="roundRect">
            <a:avLst>
              <a:gd name="adj" fmla="val 4661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3"/>
          <p:cNvSpPr/>
          <p:nvPr/>
        </p:nvSpPr>
        <p:spPr>
          <a:xfrm>
            <a:off x="9239783" y="358444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6768" y="3691433"/>
            <a:ext cx="261518" cy="261518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239783" y="4206240"/>
            <a:ext cx="2074088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drills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9239783" y="4600448"/>
            <a:ext cx="2074088" cy="66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 backup, fail over the database, rotate a credential — timed, scheduled, recorded.</a:t>
            </a:r>
            <a:endParaRPr lang="en-US" sz="1150" dirty="0"/>
          </a:p>
        </p:txBody>
      </p:sp>
      <p:sp>
        <p:nvSpPr>
          <p:cNvPr id="42" name="Text 36"/>
          <p:cNvSpPr txBox="1"/>
          <p:nvPr/>
        </p:nvSpPr>
        <p:spPr>
          <a:xfrm>
            <a:off x="640080" y="565099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a pre-production environment with production-like traffic. Move to production only once detection, alerting and rollback have each been demonstrated.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CAPABILITY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Accessibility: automation finds a third of it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Level AA is the working target in most procurement and public-sector contexts. Automated scanning detects roughly a third of the criteria.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5291176" cy="2743200"/>
          </a:xfrm>
          <a:prstGeom prst="roundRect">
            <a:avLst>
              <a:gd name="adj" fmla="val 3667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5291176" cy="301752"/>
          </a:xfrm>
          <a:prstGeom prst="rect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 txBox="1"/>
          <p:nvPr/>
        </p:nvSpPr>
        <p:spPr>
          <a:xfrm>
            <a:off x="877824" y="1847088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 ·  every pull request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33472"/>
            <a:ext cx="474253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axe-core or equivalent, wired into the component and end-to-end suites.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contrast ratios, missing alternative text, form labels, ARIA misuse.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order, landmark structure, duplicate identifiers, language attributes.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build on a new violation — treat it exactly like a failing unit test.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0440" y="1847088"/>
            <a:ext cx="5291176" cy="2743200"/>
          </a:xfrm>
          <a:prstGeom prst="roundRect">
            <a:avLst>
              <a:gd name="adj" fmla="val 3667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6260440" y="1847088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6260440" y="2148840"/>
            <a:ext cx="5291176" cy="301752"/>
          </a:xfrm>
          <a:prstGeom prst="rect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6498184" y="1847088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by hand  ·  every release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34760" y="2633472"/>
            <a:ext cx="474253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Keyboard-only traversal of each critical journey, including focus visibility and traps.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Screen-reader pass with NVDA or VoiceOver: is the announced text actually meaningful?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size, dragging alternatives and consistent help — new in WCAG 2.2.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quality: is the alternative text useful, or merely present?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36592"/>
            <a:ext cx="10911535" cy="676656"/>
          </a:xfrm>
          <a:prstGeom prst="roundRect">
            <a:avLst>
              <a:gd name="adj" fmla="val 13514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77824" y="483717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4944161"/>
            <a:ext cx="261518" cy="26151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91056" y="4864608"/>
            <a:ext cx="972281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quality characteristic, not a compliance chore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5196205"/>
            <a:ext cx="9722815" cy="22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25010:2023 lists accessibility and inclusivity under interaction capability, alongside learnability and operability.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5541264"/>
            <a:ext cx="10911535" cy="676656"/>
          </a:xfrm>
          <a:prstGeom prst="roundRect">
            <a:avLst>
              <a:gd name="adj" fmla="val 13514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0"/>
          <p:cNvSpPr/>
          <p:nvPr/>
        </p:nvSpPr>
        <p:spPr>
          <a:xfrm>
            <a:off x="877824" y="564184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09" y="5748833"/>
            <a:ext cx="261518" cy="26151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591056" y="5669280"/>
            <a:ext cx="9722815" cy="2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overlap with security is real</a:t>
            </a:r>
            <a:endParaRPr lang="en-US" sz="1550" dirty="0"/>
          </a:p>
        </p:txBody>
      </p:sp>
      <p:sp>
        <p:nvSpPr>
          <p:cNvPr id="26" name="Text 22"/>
          <p:cNvSpPr txBox="1"/>
          <p:nvPr/>
        </p:nvSpPr>
        <p:spPr>
          <a:xfrm>
            <a:off x="1591056" y="6000877"/>
            <a:ext cx="9722815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management, error message clarity and timeout handling affect both accessibility and the likelihood a user completes an authentication flow safely.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in production, responsibly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properties only exist under real traffic. The discipline is to observe them deliberately rather than to discover them from a customer.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454298" cy="2048256"/>
          </a:xfrm>
          <a:prstGeom prst="roundRect">
            <a:avLst>
              <a:gd name="adj" fmla="val 491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2191817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7824" y="2706624"/>
            <a:ext cx="297881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monitoring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116326"/>
            <a:ext cx="2978810" cy="54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critical end-to-end journeys, executed against production on a schedule from multiple regions. Catches DNS, TLS, certificate and routing faults no unit test can see.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8698" y="1847088"/>
            <a:ext cx="3454298" cy="2048256"/>
          </a:xfrm>
          <a:prstGeom prst="roundRect">
            <a:avLst>
              <a:gd name="adj" fmla="val 4911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606442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427" y="2191817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06442" y="2706624"/>
            <a:ext cx="297881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for testability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06442" y="3116326"/>
            <a:ext cx="2978810" cy="54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traces, structured logs and named business metrics. If you cannot answer “did that work?” from telemetry, the feature is not finished.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97317" y="1847088"/>
            <a:ext cx="3454298" cy="2048256"/>
          </a:xfrm>
          <a:prstGeom prst="roundRect">
            <a:avLst>
              <a:gd name="adj" fmla="val 4911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335061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046" y="2191817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35061" y="2706624"/>
            <a:ext cx="297881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on symptoms, not causes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335061" y="3379724"/>
            <a:ext cx="2978810" cy="27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on user-visible objective breaches — error rate, latency, failed transactions. CPU and memory belong on a dashboard, not on a pager.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169664"/>
            <a:ext cx="3454298" cy="2048256"/>
          </a:xfrm>
          <a:prstGeom prst="roundRect">
            <a:avLst>
              <a:gd name="adj" fmla="val 491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877824" y="440740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09" y="4514393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77824" y="5029200"/>
            <a:ext cx="297881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telemetry is testable too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77824" y="5702300"/>
            <a:ext cx="2978810" cy="27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A09 exists because logs nobody acts on have no value. Write a test that triggers an authorisation failure and asserts the alert actually fires.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68698" y="4169664"/>
            <a:ext cx="3454298" cy="2048256"/>
          </a:xfrm>
          <a:prstGeom prst="roundRect">
            <a:avLst>
              <a:gd name="adj" fmla="val 4911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2"/>
          <p:cNvSpPr/>
          <p:nvPr/>
        </p:nvSpPr>
        <p:spPr>
          <a:xfrm>
            <a:off x="4606442" y="440740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427" y="4514393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606442" y="5029200"/>
            <a:ext cx="297881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flags as a test harness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4606442" y="5702300"/>
            <a:ext cx="2978810" cy="27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 change for one internal cohort, compare telemetry against control, then widen. This is validation, done with real users and a reversible switch.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97317" y="4169664"/>
            <a:ext cx="3454298" cy="2048256"/>
          </a:xfrm>
          <a:prstGeom prst="roundRect">
            <a:avLst>
              <a:gd name="adj" fmla="val 4911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26"/>
          <p:cNvSpPr/>
          <p:nvPr/>
        </p:nvSpPr>
        <p:spPr>
          <a:xfrm>
            <a:off x="8335061" y="440740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046" y="4514393"/>
            <a:ext cx="261518" cy="26151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35061" y="5029200"/>
            <a:ext cx="297881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 is the control that matters</a:t>
            </a:r>
            <a:endParaRPr lang="en-US" sz="1700" dirty="0"/>
          </a:p>
        </p:txBody>
      </p:sp>
      <p:sp>
        <p:nvSpPr>
          <p:cNvPr id="36" name="Text 28"/>
          <p:cNvSpPr txBox="1"/>
          <p:nvPr/>
        </p:nvSpPr>
        <p:spPr>
          <a:xfrm>
            <a:off x="8335061" y="5702300"/>
            <a:ext cx="2978810" cy="27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it. Time it. Automate it on objective breach. Mean time to recovery is a DORA metric precisely because it is more controllable than failure rate.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delivery: make failure survivable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DORA research found AI adoption raises throughput and instability together. The answer to instability is smaller, more reversible releases.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875069" cy="1426464"/>
          </a:xfrm>
          <a:prstGeom prst="roundRect">
            <a:avLst>
              <a:gd name="adj" fmla="val 6410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 txBox="1"/>
          <p:nvPr/>
        </p:nvSpPr>
        <p:spPr>
          <a:xfrm>
            <a:off x="786384" y="1975104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launch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322576"/>
            <a:ext cx="16190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disabled. Verify start-up, migrations and telemetry with zero user exposure.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88301" y="245973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2899197" y="1847088"/>
            <a:ext cx="1875069" cy="1426464"/>
          </a:xfrm>
          <a:prstGeom prst="roundRect">
            <a:avLst>
              <a:gd name="adj" fmla="val 6410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3045501" y="1975104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cohort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27213" y="2322576"/>
            <a:ext cx="16190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only. Real data, real integrations, contained blast radius.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7417" y="245973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5158313" y="1847088"/>
            <a:ext cx="1875069" cy="1426464"/>
          </a:xfrm>
          <a:prstGeom prst="roundRect">
            <a:avLst>
              <a:gd name="adj" fmla="val 6410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 txBox="1"/>
          <p:nvPr/>
        </p:nvSpPr>
        <p:spPr>
          <a:xfrm>
            <a:off x="5304617" y="1975104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Canary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86329" y="2322576"/>
            <a:ext cx="16190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1–5% of traffic. Automated analysis against control on error rate and latency.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06534" y="245973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7417430" y="1847088"/>
            <a:ext cx="1875069" cy="1426464"/>
          </a:xfrm>
          <a:prstGeom prst="roundRect">
            <a:avLst>
              <a:gd name="adj" fmla="val 6410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 txBox="1"/>
          <p:nvPr/>
        </p:nvSpPr>
        <p:spPr>
          <a:xfrm>
            <a:off x="7563734" y="1975104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45446" y="2322576"/>
            <a:ext cx="16190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in steps, each with a hold period long enough for slow signals to appear.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65651" y="2459736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9676547" y="1847088"/>
            <a:ext cx="1875069" cy="1426464"/>
          </a:xfrm>
          <a:prstGeom prst="roundRect">
            <a:avLst>
              <a:gd name="adj" fmla="val 6410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9822851" y="1975104"/>
            <a:ext cx="1582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+ guard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804563" y="2322576"/>
            <a:ext cx="16190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enabled, flag retained until the next release proves stability.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419856"/>
            <a:ext cx="10911535" cy="859536"/>
          </a:xfrm>
          <a:prstGeom prst="roundRect">
            <a:avLst>
              <a:gd name="adj" fmla="val 1063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877824" y="3602736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24" y="3713836"/>
            <a:ext cx="271577" cy="271577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609344" y="3547872"/>
            <a:ext cx="970452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the rollback trigger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609344" y="3887216"/>
            <a:ext cx="9704527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canary analysis decides, not a human. “Error rate exceeds control by 0.5 points for two minutes → revert” removes hesitation from the worst possible moment for it.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4407408"/>
            <a:ext cx="10911535" cy="859536"/>
          </a:xfrm>
          <a:prstGeom prst="roundRect">
            <a:avLst>
              <a:gd name="adj" fmla="val 1063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29"/>
          <p:cNvSpPr/>
          <p:nvPr/>
        </p:nvSpPr>
        <p:spPr>
          <a:xfrm>
            <a:off x="877824" y="4590288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24" y="4701388"/>
            <a:ext cx="271577" cy="271577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609344" y="4535424"/>
            <a:ext cx="970452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every flag an expiry date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609344" y="4874768"/>
            <a:ext cx="9704527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are branches in production, and each one doubles the configuration space your tests must cover. Fail the build when a flag outlives its date.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40080" y="5394960"/>
            <a:ext cx="10911535" cy="859536"/>
          </a:xfrm>
          <a:prstGeom prst="roundRect">
            <a:avLst>
              <a:gd name="adj" fmla="val 1063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Shape 33"/>
          <p:cNvSpPr/>
          <p:nvPr/>
        </p:nvSpPr>
        <p:spPr>
          <a:xfrm>
            <a:off x="877824" y="5577840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4" y="5688940"/>
            <a:ext cx="271577" cy="271577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1609344" y="5522976"/>
            <a:ext cx="970452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Decouple deploy from release</a:t>
            </a:r>
            <a:endParaRPr lang="en-US" sz="1600" dirty="0"/>
          </a:p>
        </p:txBody>
      </p:sp>
      <p:sp>
        <p:nvSpPr>
          <p:cNvPr id="40" name="Text 35"/>
          <p:cNvSpPr txBox="1"/>
          <p:nvPr/>
        </p:nvSpPr>
        <p:spPr>
          <a:xfrm>
            <a:off x="1609344" y="5862320"/>
            <a:ext cx="9704527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release become separate decisions, so a rollback is a configuration change measured in seconds rather than a redeployment measured in minutes.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25880" cy="1325880"/>
          </a:xfrm>
          <a:prstGeom prst="roundRect">
            <a:avLst>
              <a:gd name="adj" fmla="val 22069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governance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the act of forming a defensible judgement about software on stated evidence — for a board, a customer, an auditor or a regulator. In 2026 that judgement is increasingly a legal obligation rather than a courtesy.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223760" y="148132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48132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SSDF as the governance spine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2267712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7223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82128" y="2267712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vulnerability triage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3054096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7223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82128" y="3054096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worth reporting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 txBox="1"/>
          <p:nvPr/>
        </p:nvSpPr>
        <p:spPr>
          <a:xfrm>
            <a:off x="7223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3840480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compliance map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23760" y="4626864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 txBox="1"/>
          <p:nvPr/>
        </p:nvSpPr>
        <p:spPr>
          <a:xfrm>
            <a:off x="722376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4626864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evidence pack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SP 800-218 (SSDF): the governance spine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practice groups, tool-agnostic and outcome-based. Federal suppliers self-attest against it; banks and large buyers now cite it in vendor questionnaires.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5336896" cy="1920240"/>
          </a:xfrm>
          <a:prstGeom prst="roundRect">
            <a:avLst>
              <a:gd name="adj" fmla="val 523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59536" y="2011680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59536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1975104"/>
            <a:ext cx="427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the Organization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578608"/>
            <a:ext cx="489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 defined and maintained · roles assigned · toolchains specified and secured · criteria for security checks defined · the development environment itself secured.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4720" y="1792224"/>
            <a:ext cx="5336896" cy="1920240"/>
          </a:xfrm>
          <a:prstGeom prst="roundRect">
            <a:avLst>
              <a:gd name="adj" fmla="val 523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6434176" y="2011680"/>
            <a:ext cx="475488" cy="475488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6434176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55968" y="1975104"/>
            <a:ext cx="427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Software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34176" y="2578608"/>
            <a:ext cx="489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all code from unauthorised access and tampering · provide a mechanism to verify release integrity · archive each release so an incident can be investigated years later.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950208"/>
            <a:ext cx="5336896" cy="1920240"/>
          </a:xfrm>
          <a:prstGeom prst="roundRect">
            <a:avLst>
              <a:gd name="adj" fmla="val 523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59536" y="4169664"/>
            <a:ext cx="475488" cy="475488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59536" y="4169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133088"/>
            <a:ext cx="427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 Well-Secured Software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4736592"/>
            <a:ext cx="489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 meet requirements · review the design · reuse well-secured components · follow secure coding practices · configure the build securely · review and test code (PW.7, PW.8) · ship secure defaults.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4720" y="3950208"/>
            <a:ext cx="5336896" cy="1920240"/>
          </a:xfrm>
          <a:prstGeom prst="roundRect">
            <a:avLst>
              <a:gd name="adj" fmla="val 523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6434176" y="4169664"/>
            <a:ext cx="475488" cy="475488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6434176" y="4169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55968" y="4133088"/>
            <a:ext cx="427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 to Vulnerabilities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34176" y="4736592"/>
            <a:ext cx="489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confirm vulnerabilities on an ongoing basis · assess, prioritise and remediate them · analyse root causes and fix the class, not just the instance.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9436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testing evidence lives in PW and RV. Map each practice to the pipeline stage that produces its evidence, and the framework becomes a coverage check on your own automation.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findings matter: four signals, in order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by CVSS severity alone means patching almost everything, which in practice means patching late.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02536"/>
            <a:ext cx="493776" cy="493776"/>
          </a:xfrm>
          <a:prstGeom prst="ellipse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77824" y="2002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1956816"/>
            <a:ext cx="970452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in the CISA KEV catalogue?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2296160"/>
            <a:ext cx="9704527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exploitation in the wild, verified by a human. Treat as an emergency track regardless of any other score. It is a floor, not a ceiling — absence does not prove safety.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79776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77824" y="2953512"/>
            <a:ext cx="493776" cy="493776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877824" y="29535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9344" y="2907792"/>
            <a:ext cx="970452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EPSS probability?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9344" y="3247136"/>
            <a:ext cx="9704527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daily-updated likelihood of exploitation within thirty days. EPSS v4 (March 2025) even scores CVEs still awaiting an official CVSS. A CVSS 7.5 at EPSS 0.94 outranks a CVSS 9.1 at EPSS 0.003.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730752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77824" y="3904488"/>
            <a:ext cx="493776" cy="493776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77824" y="3904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09344" y="3858768"/>
            <a:ext cx="970452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vulnerable code reachable?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09344" y="4198112"/>
            <a:ext cx="9704527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Call-graph reachability analysis, and your own VEX statement. A vulnerable function that nothing in your product calls is a documentation task, not an incident.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681728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77824" y="4855464"/>
            <a:ext cx="493776" cy="493776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877824" y="4855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609344" y="4809744"/>
            <a:ext cx="970452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exposed and how critical is the asset?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609344" y="5149088"/>
            <a:ext cx="9704527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and holding personal data outranks an isolated internal batch job carrying the identical CVE. This is the context no external score can supply.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504688"/>
            <a:ext cx="2439848" cy="731520"/>
          </a:xfrm>
          <a:prstGeom prst="roundRect">
            <a:avLst>
              <a:gd name="adj" fmla="val 12500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 txBox="1"/>
          <p:nvPr/>
        </p:nvSpPr>
        <p:spPr>
          <a:xfrm>
            <a:off x="786384" y="56327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" y="5980176"/>
            <a:ext cx="218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KEV or exploited against us → hours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53080" y="576986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3463976" y="5504688"/>
            <a:ext cx="2439848" cy="731520"/>
          </a:xfrm>
          <a:prstGeom prst="roundRect">
            <a:avLst>
              <a:gd name="adj" fmla="val 12500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 txBox="1"/>
          <p:nvPr/>
        </p:nvSpPr>
        <p:spPr>
          <a:xfrm>
            <a:off x="3610280" y="56327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91992" y="5980176"/>
            <a:ext cx="218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EPSS, reachable, exposed → days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76976" y="576986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Shape 33"/>
          <p:cNvSpPr/>
          <p:nvPr/>
        </p:nvSpPr>
        <p:spPr>
          <a:xfrm>
            <a:off x="6287872" y="5504688"/>
            <a:ext cx="2439848" cy="731520"/>
          </a:xfrm>
          <a:prstGeom prst="roundRect">
            <a:avLst>
              <a:gd name="adj" fmla="val 12500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 txBox="1"/>
          <p:nvPr/>
        </p:nvSpPr>
        <p:spPr>
          <a:xfrm>
            <a:off x="6434176" y="56327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15888" y="5980176"/>
            <a:ext cx="218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CVSS, reachable, internal → next release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800871" y="5769864"/>
            <a:ext cx="237744" cy="201168"/>
          </a:xfrm>
          <a:prstGeom prst="rightArrow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Shape 37"/>
          <p:cNvSpPr/>
          <p:nvPr/>
        </p:nvSpPr>
        <p:spPr>
          <a:xfrm>
            <a:off x="9111767" y="5504688"/>
            <a:ext cx="2439848" cy="731520"/>
          </a:xfrm>
          <a:prstGeom prst="roundRect">
            <a:avLst>
              <a:gd name="adj" fmla="val 12500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 txBox="1"/>
          <p:nvPr/>
        </p:nvSpPr>
        <p:spPr>
          <a:xfrm>
            <a:off x="9258071" y="5632704"/>
            <a:ext cx="214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239783" y="5980176"/>
            <a:ext cx="218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or refuted by VEX → quarterly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metrics worth putting in front of a board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throughput, stability, quality and security together. Any one of them alone can be improved by damaging the others.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442106" cy="2651760"/>
          </a:xfrm>
          <a:prstGeom prst="roundRect">
            <a:avLst>
              <a:gd name="adj" fmla="val 379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2191817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7824" y="2706624"/>
            <a:ext cx="2966618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 (DORA, five metrics)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379724"/>
            <a:ext cx="2966618" cy="88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 · lead time for changes · change failure rate · failed deployment recovery time · rework rate.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them together, never as a single grade: a team can now be fast and unstable at once.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74794" y="1847088"/>
            <a:ext cx="3442106" cy="2651760"/>
          </a:xfrm>
          <a:prstGeom prst="roundRect">
            <a:avLst>
              <a:gd name="adj" fmla="val 3793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612538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523" y="2191817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2538" y="2706624"/>
            <a:ext cx="2966618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3116326"/>
            <a:ext cx="2966618" cy="114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in the critical band · diff coverage on changed lines · flakiness rate (target under 1%) · escaped defects per release · median pull-request pipeline duration.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09509" y="1847088"/>
            <a:ext cx="3442106" cy="2651760"/>
          </a:xfrm>
          <a:prstGeom prst="roundRect">
            <a:avLst>
              <a:gd name="adj" fmla="val 3793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347253" y="20848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238" y="2191817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47253" y="2706624"/>
            <a:ext cx="2966618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347253" y="3116326"/>
            <a:ext cx="2966618" cy="114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remediate, by tier · percentage of releases with a complete SBOM and verified provenance · findings caught left of deployment versus reported externally · ASVS requirement coverage.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626864"/>
            <a:ext cx="5291176" cy="1591056"/>
          </a:xfrm>
          <a:prstGeom prst="roundRect">
            <a:avLst>
              <a:gd name="adj" fmla="val 6322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640080" y="4626864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19"/>
          <p:cNvSpPr/>
          <p:nvPr/>
        </p:nvSpPr>
        <p:spPr>
          <a:xfrm>
            <a:off x="640080" y="4928616"/>
            <a:ext cx="5291176" cy="301752"/>
          </a:xfrm>
          <a:prstGeom prst="rect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0"/>
          <p:cNvSpPr txBox="1"/>
          <p:nvPr/>
        </p:nvSpPr>
        <p:spPr>
          <a:xfrm>
            <a:off x="877824" y="4626864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measure</a:t>
            </a:r>
            <a:endParaRPr lang="en-US" sz="1550" dirty="0"/>
          </a:p>
        </p:txBody>
      </p:sp>
      <p:sp>
        <p:nvSpPr>
          <p:cNvPr id="26" name="Text 21"/>
          <p:cNvSpPr txBox="1"/>
          <p:nvPr/>
        </p:nvSpPr>
        <p:spPr>
          <a:xfrm>
            <a:off x="914400" y="5413248"/>
            <a:ext cx="474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written or executed per sprint.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per tester.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organisation-wide line-coverage percentage.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260440" y="4626864"/>
            <a:ext cx="5291176" cy="1591056"/>
          </a:xfrm>
          <a:prstGeom prst="roundRect">
            <a:avLst>
              <a:gd name="adj" fmla="val 632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3"/>
          <p:cNvSpPr/>
          <p:nvPr/>
        </p:nvSpPr>
        <p:spPr>
          <a:xfrm>
            <a:off x="6260440" y="4626864"/>
            <a:ext cx="5291176" cy="603504"/>
          </a:xfrm>
          <a:prstGeom prst="roundRect">
            <a:avLst>
              <a:gd name="adj" fmla="val 16667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24"/>
          <p:cNvSpPr/>
          <p:nvPr/>
        </p:nvSpPr>
        <p:spPr>
          <a:xfrm>
            <a:off x="6260440" y="4928616"/>
            <a:ext cx="5291176" cy="301752"/>
          </a:xfrm>
          <a:prstGeom prst="rect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5"/>
          <p:cNvSpPr txBox="1"/>
          <p:nvPr/>
        </p:nvSpPr>
        <p:spPr>
          <a:xfrm>
            <a:off x="6498184" y="4626864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</a:t>
            </a:r>
            <a:endParaRPr lang="en-US" sz="1550" dirty="0"/>
          </a:p>
        </p:txBody>
      </p:sp>
      <p:sp>
        <p:nvSpPr>
          <p:cNvPr id="31" name="Text 26"/>
          <p:cNvSpPr txBox="1"/>
          <p:nvPr/>
        </p:nvSpPr>
        <p:spPr>
          <a:xfrm>
            <a:off x="6534760" y="5413248"/>
            <a:ext cx="474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rewards volume, and volume is trivially generated.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rewards finding defects late rather than preventing them.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fastest known route to assertion-free tests.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2026 compliance map for testing evidence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abstractions. Each one names artefacts your pipeline should already be producing.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5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it binds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demands of testing and evidence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Cyber Resilience Act (2024/2847)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placing a product with digital elements on the EU market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of actively exploited vulnerabilities and severe incidents applies from 11 September 2026 — 24-hour early warning, 72-hour notification. CE marking from 11 December 2027. Requires an SBOM and continuous monitoring in practice.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Nigeria Data Protection Act 2023 + GAID 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Controllers and processors handling data of people in Nigeria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for entities of major importance, documented lawful basis, impact assessments for high-risk processing, breach notification, and records of security safeguards — including in test environments.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800-218 (SSDF)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federal suppliers by attestation; widely cited in vendor questionnaires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for PW.7 and PW.8 (code review and testing) and RV.1–RV.3 (vulnerability identification, remediation and root-cause analysis).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DSS 4.0 / ISO 27001 / SOC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Payment, certified and audited organisations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development lifecycle evidence, change control, vulnerability management service levels, segregation of duties, and independent testing records.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pack: what an assessor asks for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producing this takes a project, your pipeline is not instrumented. If it takes an afternoon, it is.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59536" y="20116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" y="2106320"/>
            <a:ext cx="231343" cy="2313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26464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strategy &amp; risk banding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version, dated, with the named owner and the last review.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26026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545482" y="20116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123" y="2106320"/>
            <a:ext cx="231343" cy="23134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12410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Requirement-to-test trace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4545482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 requirement → test identifier → last result. The single most requested table.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11973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231429" y="20116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6069" y="2106320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98357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run records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231429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release: which gates ran, what they returned, and who approved any exception.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859536" y="34015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176" y="3496208"/>
            <a:ext cx="231343" cy="23134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26464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SBOM per release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859536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at build time, stored with the artefact, in SPDX or CycloneDX.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26026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2"/>
          <p:cNvSpPr/>
          <p:nvPr/>
        </p:nvSpPr>
        <p:spPr>
          <a:xfrm>
            <a:off x="4545482" y="34015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123" y="3496208"/>
            <a:ext cx="231343" cy="23134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12410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&amp; signatures</a:t>
            </a:r>
            <a:endParaRPr lang="en-US" sz="1550" dirty="0"/>
          </a:p>
        </p:txBody>
      </p:sp>
      <p:sp>
        <p:nvSpPr>
          <p:cNvPr id="31" name="Text 24"/>
          <p:cNvSpPr txBox="1"/>
          <p:nvPr/>
        </p:nvSpPr>
        <p:spPr>
          <a:xfrm>
            <a:off x="4545482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attestation and Sigstore verification output for each shipped artefact.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11973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26"/>
          <p:cNvSpPr/>
          <p:nvPr/>
        </p:nvSpPr>
        <p:spPr>
          <a:xfrm>
            <a:off x="8231429" y="34015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069" y="3496208"/>
            <a:ext cx="231343" cy="231343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798357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VEX statements</a:t>
            </a:r>
            <a:endParaRPr lang="en-US" sz="1550" dirty="0"/>
          </a:p>
        </p:txBody>
      </p:sp>
      <p:sp>
        <p:nvSpPr>
          <p:cNvPr id="36" name="Text 28"/>
          <p:cNvSpPr txBox="1"/>
          <p:nvPr/>
        </p:nvSpPr>
        <p:spPr>
          <a:xfrm>
            <a:off x="8231429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tied to the release identifier, explaining which advertised CVEs do not apply.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640080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0"/>
          <p:cNvSpPr/>
          <p:nvPr/>
        </p:nvSpPr>
        <p:spPr>
          <a:xfrm>
            <a:off x="859536" y="47914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176" y="4886096"/>
            <a:ext cx="231343" cy="231343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426464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register</a:t>
            </a:r>
            <a:endParaRPr lang="en-US" sz="1550" dirty="0"/>
          </a:p>
        </p:txBody>
      </p:sp>
      <p:sp>
        <p:nvSpPr>
          <p:cNvPr id="41" name="Text 32"/>
          <p:cNvSpPr txBox="1"/>
          <p:nvPr/>
        </p:nvSpPr>
        <p:spPr>
          <a:xfrm>
            <a:off x="859536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findings by tier with service levels, owners and remediation dates.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4326026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34"/>
          <p:cNvSpPr/>
          <p:nvPr/>
        </p:nvSpPr>
        <p:spPr>
          <a:xfrm>
            <a:off x="4545482" y="47914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123" y="4886096"/>
            <a:ext cx="231343" cy="231343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112410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test reports</a:t>
            </a:r>
            <a:endParaRPr lang="en-US" sz="1550" dirty="0"/>
          </a:p>
        </p:txBody>
      </p:sp>
      <p:sp>
        <p:nvSpPr>
          <p:cNvPr id="46" name="Text 36"/>
          <p:cNvSpPr txBox="1"/>
          <p:nvPr/>
        </p:nvSpPr>
        <p:spPr>
          <a:xfrm>
            <a:off x="4545482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 findings, the retest confirming closure, and the resulting regression tests.</a:t>
            </a:r>
            <a:endParaRPr lang="en-US" sz="1150" dirty="0"/>
          </a:p>
        </p:txBody>
      </p:sp>
      <p:sp>
        <p:nvSpPr>
          <p:cNvPr id="47" name="Shape 37"/>
          <p:cNvSpPr/>
          <p:nvPr/>
        </p:nvSpPr>
        <p:spPr>
          <a:xfrm>
            <a:off x="8011973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Shape 38"/>
          <p:cNvSpPr/>
          <p:nvPr/>
        </p:nvSpPr>
        <p:spPr>
          <a:xfrm>
            <a:off x="8231429" y="47914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6069" y="4886096"/>
            <a:ext cx="231343" cy="231343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8798357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Accepted risks</a:t>
            </a:r>
            <a:endParaRPr lang="en-US" sz="1550" dirty="0"/>
          </a:p>
        </p:txBody>
      </p:sp>
      <p:sp>
        <p:nvSpPr>
          <p:cNvPr id="51" name="Text 40"/>
          <p:cNvSpPr txBox="1"/>
          <p:nvPr/>
        </p:nvSpPr>
        <p:spPr>
          <a:xfrm>
            <a:off x="8231429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named accepter, a business justification and an expiry date.</a:t>
            </a:r>
            <a:endParaRPr lang="en-US" sz="1150" dirty="0"/>
          </a:p>
        </p:txBody>
      </p:sp>
      <p:sp>
        <p:nvSpPr>
          <p:cNvPr id="52" name="Text 41"/>
          <p:cNvSpPr txBox="1"/>
          <p:nvPr/>
        </p:nvSpPr>
        <p:spPr>
          <a:xfrm>
            <a:off x="640080" y="5888736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every one of these from the pipeline. Evidence assembled by hand at audit time is evidence that describes an intention rather than a practice.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325880" cy="1325880"/>
          </a:xfrm>
          <a:prstGeom prst="roundRect">
            <a:avLst>
              <a:gd name="adj" fmla="val 22069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arrives at once. The sequence matters more than the ambition: teams that install every gate in a single quarter produce a pipeline nobody trusts and everybody bypasses.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223760" y="1481328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481328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to avoid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2267712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 txBox="1"/>
          <p:nvPr/>
        </p:nvSpPr>
        <p:spPr>
          <a:xfrm>
            <a:off x="7223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82128" y="2267712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one-page operating checklist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3054096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7223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82128" y="3054096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90-day, 6-month and 12-month plan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457200" cy="457200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 txBox="1"/>
          <p:nvPr/>
        </p:nvSpPr>
        <p:spPr>
          <a:xfrm>
            <a:off x="7223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3840480"/>
            <a:ext cx="36694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away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anti-patterns that destroy a testing programme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common, defensible in the moment, and corrosive over a year.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59536" y="2011680"/>
            <a:ext cx="420624" cy="420624"/>
          </a:xfrm>
          <a:prstGeom prst="ellipse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 txBox="1"/>
          <p:nvPr/>
        </p:nvSpPr>
        <p:spPr>
          <a:xfrm>
            <a:off x="85953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coverage mandate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organisation-wide percentage target. Produces assertion-free tests within one quarter.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6026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545482" y="2011680"/>
            <a:ext cx="420624" cy="420624"/>
          </a:xfrm>
          <a:prstGeom prst="ellipse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 txBox="1"/>
          <p:nvPr/>
        </p:nvSpPr>
        <p:spPr>
          <a:xfrm>
            <a:off x="454548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12410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until green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45482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reruns instead of quarantine. Hides genuine race conditions and destroys trust in 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1973" y="1792224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7E2DD"/>
          </a:solidFill>
          <a:ln w="12700">
            <a:solidFill>
              <a:srgbClr val="F7E2D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231429" y="2011680"/>
            <a:ext cx="420624" cy="420624"/>
          </a:xfrm>
          <a:prstGeom prst="ellipse">
            <a:avLst/>
          </a:prstGeom>
          <a:solidFill>
            <a:srgbClr val="BC4530"/>
          </a:solidFill>
          <a:ln w="12700">
            <a:solidFill>
              <a:srgbClr val="BC453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8231429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98357" y="1975104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separate QA gate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31429" y="2523744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tests after development. Feedback arrives too late to be cheap and too late to be heeded.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59536" y="3401568"/>
            <a:ext cx="420624" cy="420624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 txBox="1"/>
          <p:nvPr/>
        </p:nvSpPr>
        <p:spPr>
          <a:xfrm>
            <a:off x="859536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26464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as a pre-release scan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859536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arrive after the architecture is frozen, so they are deferred rather than fixed.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26026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4545482" y="3401568"/>
            <a:ext cx="420624" cy="420624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 txBox="1"/>
          <p:nvPr/>
        </p:nvSpPr>
        <p:spPr>
          <a:xfrm>
            <a:off x="4545482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112410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everything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4545482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suite that proves only that your beliefs about collaborators are internally consistent.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11973" y="3182112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8231429" y="3401568"/>
            <a:ext cx="420624" cy="420624"/>
          </a:xfrm>
          <a:prstGeom prst="ellipse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 txBox="1"/>
          <p:nvPr/>
        </p:nvSpPr>
        <p:spPr>
          <a:xfrm>
            <a:off x="8231429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798357" y="3364992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forty-five minute pipeline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8231429" y="3913632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the team to batch changes and skip local runs, which raises change failure rate.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6"/>
          <p:cNvSpPr/>
          <p:nvPr/>
        </p:nvSpPr>
        <p:spPr>
          <a:xfrm>
            <a:off x="859536" y="4791456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 txBox="1"/>
          <p:nvPr/>
        </p:nvSpPr>
        <p:spPr>
          <a:xfrm>
            <a:off x="859536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426464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a fourth scanner</a:t>
            </a:r>
            <a:endParaRPr lang="en-US" sz="1550" dirty="0"/>
          </a:p>
        </p:txBody>
      </p:sp>
      <p:sp>
        <p:nvSpPr>
          <p:cNvPr id="41" name="Text 39"/>
          <p:cNvSpPr txBox="1"/>
          <p:nvPr/>
        </p:nvSpPr>
        <p:spPr>
          <a:xfrm>
            <a:off x="859536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tools in a category you already have, instead of writing the authorisation tests no tool can write.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26026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41"/>
          <p:cNvSpPr/>
          <p:nvPr/>
        </p:nvSpPr>
        <p:spPr>
          <a:xfrm>
            <a:off x="4545482" y="4791456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42"/>
          <p:cNvSpPr txBox="1"/>
          <p:nvPr/>
        </p:nvSpPr>
        <p:spPr>
          <a:xfrm>
            <a:off x="4545482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112410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Untested backups and runbooks</a:t>
            </a:r>
            <a:endParaRPr lang="en-US" sz="1550" dirty="0"/>
          </a:p>
        </p:txBody>
      </p:sp>
      <p:sp>
        <p:nvSpPr>
          <p:cNvPr id="46" name="Text 44"/>
          <p:cNvSpPr txBox="1"/>
          <p:nvPr/>
        </p:nvSpPr>
        <p:spPr>
          <a:xfrm>
            <a:off x="4545482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procedures that have never been executed are hypotheses held with unearned confidence.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011973" y="4572000"/>
            <a:ext cx="3539642" cy="1243584"/>
          </a:xfrm>
          <a:prstGeom prst="roundRect">
            <a:avLst>
              <a:gd name="adj" fmla="val 8088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Shape 46"/>
          <p:cNvSpPr/>
          <p:nvPr/>
        </p:nvSpPr>
        <p:spPr>
          <a:xfrm>
            <a:off x="8231429" y="4791456"/>
            <a:ext cx="420624" cy="420624"/>
          </a:xfrm>
          <a:prstGeom prst="ellipse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 txBox="1"/>
          <p:nvPr/>
        </p:nvSpPr>
        <p:spPr>
          <a:xfrm>
            <a:off x="8231429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8798357" y="4754880"/>
            <a:ext cx="25338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assembled at audit time</a:t>
            </a:r>
            <a:endParaRPr lang="en-US" sz="1550" dirty="0"/>
          </a:p>
        </p:txBody>
      </p:sp>
      <p:sp>
        <p:nvSpPr>
          <p:cNvPr id="51" name="Text 49"/>
          <p:cNvSpPr txBox="1"/>
          <p:nvPr/>
        </p:nvSpPr>
        <p:spPr>
          <a:xfrm>
            <a:off x="8231429" y="5303520"/>
            <a:ext cx="31007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pack cannot be produced from the pipeline, the controls it describes are not actually operating.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5888736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diagnostic: ask three developers, separately, what happens when the pipeline goes red. If the answers differ, the process is folklore rather than policy.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one-page operating checklist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it. Review it at every sprint boundary. If an item cannot be answered with evidence, it is not in place.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442106" cy="3931920"/>
          </a:xfrm>
          <a:prstGeom prst="roundRect">
            <a:avLst>
              <a:gd name="adj" fmla="val 2922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3442106" cy="566928"/>
          </a:xfrm>
          <a:prstGeom prst="roundRect">
            <a:avLst>
              <a:gd name="adj" fmla="val 17742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3442106" cy="283464"/>
          </a:xfrm>
          <a:prstGeom prst="rect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 txBox="1"/>
          <p:nvPr/>
        </p:nvSpPr>
        <p:spPr>
          <a:xfrm>
            <a:off x="859536" y="1847088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pull request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9536" y="2578608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637130"/>
            <a:ext cx="175565" cy="17556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61872" y="2523744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contract and integration suites green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59536" y="3200400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3258922"/>
            <a:ext cx="175565" cy="17556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61872" y="3145536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coverage ≥ 80% on changed lines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59536" y="3822192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3880714"/>
            <a:ext cx="175565" cy="17556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61872" y="3767328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SCA, IaC and secret scans clean of new high findings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59536" y="4443984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4502506"/>
            <a:ext cx="175565" cy="1755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61872" y="4389120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matrix test updated for any new endpoint or role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59536" y="5065776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5124298"/>
            <a:ext cx="175565" cy="17556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61872" y="5010912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six minutes end to end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4374794" y="1847088"/>
            <a:ext cx="3442106" cy="3931920"/>
          </a:xfrm>
          <a:prstGeom prst="roundRect">
            <a:avLst>
              <a:gd name="adj" fmla="val 2922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0"/>
          <p:cNvSpPr/>
          <p:nvPr/>
        </p:nvSpPr>
        <p:spPr>
          <a:xfrm>
            <a:off x="4374794" y="1847088"/>
            <a:ext cx="3442106" cy="566928"/>
          </a:xfrm>
          <a:prstGeom prst="roundRect">
            <a:avLst>
              <a:gd name="adj" fmla="val 17742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1"/>
          <p:cNvSpPr/>
          <p:nvPr/>
        </p:nvSpPr>
        <p:spPr>
          <a:xfrm>
            <a:off x="4374794" y="2130552"/>
            <a:ext cx="3442106" cy="283464"/>
          </a:xfrm>
          <a:prstGeom prst="rect">
            <a:avLst/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2"/>
          <p:cNvSpPr txBox="1"/>
          <p:nvPr/>
        </p:nvSpPr>
        <p:spPr>
          <a:xfrm>
            <a:off x="4594250" y="1847088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release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4594250" y="2578608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2" y="2637130"/>
            <a:ext cx="175565" cy="17556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996586" y="2523744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generated at build time and stored with the artefact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4594250" y="3200400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2" y="3258922"/>
            <a:ext cx="175565" cy="17556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996586" y="3145536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attestation signed and verified at deploy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4594250" y="3822192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2" y="3880714"/>
            <a:ext cx="175565" cy="17556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996586" y="3767328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and performance profile compared against the previous release</a:t>
            </a:r>
            <a:endParaRPr lang="en-US" sz="1350" dirty="0"/>
          </a:p>
        </p:txBody>
      </p:sp>
      <p:sp>
        <p:nvSpPr>
          <p:cNvPr id="39" name="Shape 29"/>
          <p:cNvSpPr/>
          <p:nvPr/>
        </p:nvSpPr>
        <p:spPr>
          <a:xfrm>
            <a:off x="4594250" y="4443984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2" y="4502506"/>
            <a:ext cx="175565" cy="17556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996586" y="4389120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scan clean; keyboard pass on critical journeys</a:t>
            </a:r>
            <a:endParaRPr lang="en-US" sz="1350" dirty="0"/>
          </a:p>
        </p:txBody>
      </p:sp>
      <p:sp>
        <p:nvSpPr>
          <p:cNvPr id="42" name="Shape 31"/>
          <p:cNvSpPr/>
          <p:nvPr/>
        </p:nvSpPr>
        <p:spPr>
          <a:xfrm>
            <a:off x="4594250" y="5065776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2" y="5124298"/>
            <a:ext cx="175565" cy="175565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996586" y="5010912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 met, or exception recorded with an owner and expiry</a:t>
            </a:r>
            <a:endParaRPr lang="en-US" sz="1350" dirty="0"/>
          </a:p>
        </p:txBody>
      </p:sp>
      <p:sp>
        <p:nvSpPr>
          <p:cNvPr id="45" name="Shape 33"/>
          <p:cNvSpPr/>
          <p:nvPr/>
        </p:nvSpPr>
        <p:spPr>
          <a:xfrm>
            <a:off x="8109509" y="1847088"/>
            <a:ext cx="3442106" cy="3931920"/>
          </a:xfrm>
          <a:prstGeom prst="roundRect">
            <a:avLst>
              <a:gd name="adj" fmla="val 2922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6" name="Shape 34"/>
          <p:cNvSpPr/>
          <p:nvPr/>
        </p:nvSpPr>
        <p:spPr>
          <a:xfrm>
            <a:off x="8109509" y="1847088"/>
            <a:ext cx="3442106" cy="566928"/>
          </a:xfrm>
          <a:prstGeom prst="roundRect">
            <a:avLst>
              <a:gd name="adj" fmla="val 17742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7" name="Shape 35"/>
          <p:cNvSpPr/>
          <p:nvPr/>
        </p:nvSpPr>
        <p:spPr>
          <a:xfrm>
            <a:off x="8109509" y="2130552"/>
            <a:ext cx="3442106" cy="283464"/>
          </a:xfrm>
          <a:prstGeom prst="rect">
            <a:avLst/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Text 36"/>
          <p:cNvSpPr txBox="1"/>
          <p:nvPr/>
        </p:nvSpPr>
        <p:spPr>
          <a:xfrm>
            <a:off x="8328965" y="1847088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quarter</a:t>
            </a:r>
            <a:endParaRPr lang="en-US" sz="1700" dirty="0"/>
          </a:p>
        </p:txBody>
      </p:sp>
      <p:sp>
        <p:nvSpPr>
          <p:cNvPr id="49" name="Shape 37"/>
          <p:cNvSpPr/>
          <p:nvPr/>
        </p:nvSpPr>
        <p:spPr>
          <a:xfrm>
            <a:off x="8328965" y="2578608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486" y="2637130"/>
            <a:ext cx="175565" cy="17556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8731301" y="2523744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refreshed for changed trust boundaries</a:t>
            </a:r>
            <a:endParaRPr lang="en-US" sz="1350" dirty="0"/>
          </a:p>
        </p:txBody>
      </p:sp>
      <p:sp>
        <p:nvSpPr>
          <p:cNvPr id="52" name="Shape 39"/>
          <p:cNvSpPr/>
          <p:nvPr/>
        </p:nvSpPr>
        <p:spPr>
          <a:xfrm>
            <a:off x="8328965" y="3200400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486" y="3258922"/>
            <a:ext cx="175565" cy="175565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8731301" y="3145536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banding and test strategy reviewed and re-dated</a:t>
            </a:r>
            <a:endParaRPr lang="en-US" sz="1350" dirty="0"/>
          </a:p>
        </p:txBody>
      </p:sp>
      <p:sp>
        <p:nvSpPr>
          <p:cNvPr id="55" name="Shape 41"/>
          <p:cNvSpPr/>
          <p:nvPr/>
        </p:nvSpPr>
        <p:spPr>
          <a:xfrm>
            <a:off x="8328965" y="3822192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486" y="3880714"/>
            <a:ext cx="175565" cy="175565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8731301" y="3767328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and flakiness rate reviewed per module</a:t>
            </a:r>
            <a:endParaRPr lang="en-US" sz="1350" dirty="0"/>
          </a:p>
        </p:txBody>
      </p:sp>
      <p:sp>
        <p:nvSpPr>
          <p:cNvPr id="58" name="Shape 43"/>
          <p:cNvSpPr/>
          <p:nvPr/>
        </p:nvSpPr>
        <p:spPr>
          <a:xfrm>
            <a:off x="8328965" y="4443984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486" y="4502506"/>
            <a:ext cx="175565" cy="175565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8731301" y="4389120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drill executed and timed; backup restored</a:t>
            </a:r>
            <a:endParaRPr lang="en-US" sz="1350" dirty="0"/>
          </a:p>
        </p:txBody>
      </p:sp>
      <p:sp>
        <p:nvSpPr>
          <p:cNvPr id="61" name="Shape 45"/>
          <p:cNvSpPr/>
          <p:nvPr/>
        </p:nvSpPr>
        <p:spPr>
          <a:xfrm>
            <a:off x="8328965" y="5065776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486" y="5124298"/>
            <a:ext cx="175565" cy="175565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8731301" y="5010912"/>
            <a:ext cx="26008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 produced for one release, at random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staged adoption plan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chosen so that each stage makes the next one cheaper — and so that nothing blocks the pipeline before it is fast and trusted.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911535" cy="932688"/>
          </a:xfrm>
          <a:prstGeom prst="roundRect">
            <a:avLst>
              <a:gd name="adj" fmla="val 9804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77824" y="205740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" y="2172614"/>
            <a:ext cx="281635" cy="28163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27632" y="1975104"/>
            <a:ext cx="9686239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90 days  —  make the pipeline trustworthy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1627632" y="2322195"/>
            <a:ext cx="9686239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 strategy and risk banding. Get the pull-request pipeline under six minutes. Introduce quarantine and drive flakiness below 1%. Turn on secret scanning, SCA and diff coverage as warnings, then as blocks. Write the authorisation matrix test for the two highest-risk services.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2907792"/>
            <a:ext cx="10911535" cy="932688"/>
          </a:xfrm>
          <a:prstGeom prst="roundRect">
            <a:avLst>
              <a:gd name="adj" fmla="val 9804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877824" y="311810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38" y="3233318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27632" y="3035808"/>
            <a:ext cx="9686239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4–6  —  deepen verification and prove the supply chain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1627632" y="3382899"/>
            <a:ext cx="9686239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on the two noisiest boundaries. Testcontainers integration tests for every data-access layer. Nightly mutation testing with a published per-module score. SBOM on every build; SLSA Build L1 provenance, then signature verification enforced at deploy.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968496"/>
            <a:ext cx="10911535" cy="932688"/>
          </a:xfrm>
          <a:prstGeom prst="roundRect">
            <a:avLst>
              <a:gd name="adj" fmla="val 9804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877824" y="417880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" y="429402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27632" y="4096512"/>
            <a:ext cx="9686239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7–12  —  close the loop on threats and evidence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1627632" y="4443603"/>
            <a:ext cx="9686239" cy="58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 as a standing design activity, with each mitigation landing as a test. DAST and fuzzing in the nightly stage. Performance thresholds as release gates. First recovery drill and first chaos experiment. Publish a disclosure policy and a security.txt.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5029200"/>
            <a:ext cx="10911535" cy="932688"/>
          </a:xfrm>
          <a:prstGeom prst="roundRect">
            <a:avLst>
              <a:gd name="adj" fmla="val 9804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18"/>
          <p:cNvSpPr/>
          <p:nvPr/>
        </p:nvSpPr>
        <p:spPr>
          <a:xfrm>
            <a:off x="877824" y="5239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8" y="5354726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27632" y="5157216"/>
            <a:ext cx="9686239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12 months  —  operate it as a programme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1627632" y="5504307"/>
            <a:ext cx="9686239" cy="4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penetration testing with retest. Progressive delivery with automated rollback. ASVS L2 coverage claim with a maintained trace table. Quarterly evidence drills. A bug bounty only once triage capacity demonstrably exists.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02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60" dirty="0">
                <a:solidFill>
                  <a:srgbClr val="D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96112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things worth remembering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457200" cy="45720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 txBox="1"/>
          <p:nvPr/>
        </p:nvSpPr>
        <p:spPr>
          <a:xfrm>
            <a:off x="6400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73936"/>
            <a:ext cx="461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is where security knowledge is stored.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76272"/>
            <a:ext cx="461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class that can recur without a test failing is a lesson your team never learned.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 txBox="1"/>
          <p:nvPr/>
        </p:nvSpPr>
        <p:spPr>
          <a:xfrm>
            <a:off x="6400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07792"/>
            <a:ext cx="461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is a floor; mutation score is the signal.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10128"/>
            <a:ext cx="461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a line is not verifying a behaviour — and in the AI era that gap is widening fast.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041648"/>
            <a:ext cx="461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automated finds broken access control.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43984"/>
            <a:ext cx="461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stays at number one because it is application-specific. Write the authorisation matrix by hand.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 txBox="1"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175504"/>
            <a:ext cx="461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what you shipped and how it was built.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577840"/>
            <a:ext cx="461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SBOM, provenance, signature and VEX. Supply chain entered the OWASP Top 10 at number three for a reason.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97016" y="1810512"/>
            <a:ext cx="457200" cy="45720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 txBox="1"/>
          <p:nvPr/>
        </p:nvSpPr>
        <p:spPr>
          <a:xfrm>
            <a:off x="629701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937096" y="1773936"/>
            <a:ext cx="461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 must be fast and machine-checkable.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37096" y="2176272"/>
            <a:ext cx="461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is renegotiated under deadline pressure, every single time.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97016" y="2944368"/>
            <a:ext cx="457200" cy="45720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 txBox="1"/>
          <p:nvPr/>
        </p:nvSpPr>
        <p:spPr>
          <a:xfrm>
            <a:off x="6297016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937096" y="2907792"/>
            <a:ext cx="461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right as deliberately as you shift left.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937096" y="3310128"/>
            <a:ext cx="461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properties only exist under real traffic. Observe them on purpose rather than learning them from a customer.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97016" y="4078224"/>
            <a:ext cx="457200" cy="45720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 txBox="1"/>
          <p:nvPr/>
        </p:nvSpPr>
        <p:spPr>
          <a:xfrm>
            <a:off x="6297016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937096" y="4041648"/>
            <a:ext cx="461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should fall out of the pipeline.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37096" y="4443984"/>
            <a:ext cx="461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3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audit pack takes a project to assemble, the controls it describes are not really operating.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Standards, frameworks and research referenced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91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&amp; Evaluation  ·  Security-First Engineering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7215" y="6391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346040" cy="1975104"/>
          </a:xfrm>
          <a:prstGeom prst="roundRect">
            <a:avLst>
              <a:gd name="adj" fmla="val 509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859536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" y="2077974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938528"/>
            <a:ext cx="430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standards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2523744"/>
            <a:ext cx="4907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 (owasp.org/Top10/2025)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 5.0.0, May 2025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LLM Applications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Agentic Applications 2026 (ASI01–ASI10)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SAMM, MASVS, API Security Top 10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05576" y="1755648"/>
            <a:ext cx="5346040" cy="1975104"/>
          </a:xfrm>
          <a:prstGeom prst="roundRect">
            <a:avLst>
              <a:gd name="adj" fmla="val 5093"/>
            </a:avLst>
          </a:prstGeom>
          <a:solidFill>
            <a:srgbClr val="D6E9E6"/>
          </a:solidFill>
          <a:ln w="12700">
            <a:solidFill>
              <a:srgbClr val="D6E9E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9"/>
          <p:cNvSpPr/>
          <p:nvPr/>
        </p:nvSpPr>
        <p:spPr>
          <a:xfrm>
            <a:off x="6425032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902" y="2077974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28536" y="1938528"/>
            <a:ext cx="430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&amp; standards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425032" y="2523744"/>
            <a:ext cx="4907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800-218 SSDF v1.1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25010:2023 product quality model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29119 (parts 1–5)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build levels · in-toto · SPDX · CycloneDX · CSAF VEX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Level AA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950208"/>
            <a:ext cx="5346040" cy="1975104"/>
          </a:xfrm>
          <a:prstGeom prst="roundRect">
            <a:avLst>
              <a:gd name="adj" fmla="val 5093"/>
            </a:avLst>
          </a:prstGeom>
          <a:solidFill>
            <a:srgbClr val="EFF3F4"/>
          </a:solidFill>
          <a:ln w="12700">
            <a:solidFill>
              <a:srgbClr val="EFF3F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3"/>
          <p:cNvSpPr/>
          <p:nvPr/>
        </p:nvSpPr>
        <p:spPr>
          <a:xfrm>
            <a:off x="859536" y="416966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3742"/>
          </a:solidFill>
          <a:ln w="12700">
            <a:solidFill>
              <a:srgbClr val="1B374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" y="4272534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133088"/>
            <a:ext cx="430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data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59536" y="4718304"/>
            <a:ext cx="4907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 2026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DORA, State of AI-assisted Software Development, 2025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CVSS 4.0 and EPSS v4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Known Exploited Vulnerabilities catalogue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05576" y="3950208"/>
            <a:ext cx="5346040" cy="1975104"/>
          </a:xfrm>
          <a:prstGeom prst="roundRect">
            <a:avLst>
              <a:gd name="adj" fmla="val 5093"/>
            </a:avLst>
          </a:prstGeom>
          <a:solidFill>
            <a:srgbClr val="FAEED4"/>
          </a:solidFill>
          <a:ln w="12700">
            <a:solidFill>
              <a:srgbClr val="FAEE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17"/>
          <p:cNvSpPr/>
          <p:nvPr/>
        </p:nvSpPr>
        <p:spPr>
          <a:xfrm>
            <a:off x="6425032" y="416966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B5811C"/>
          </a:solidFill>
          <a:ln w="12700">
            <a:solidFill>
              <a:srgbClr val="B5811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902" y="4272534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28536" y="4133088"/>
            <a:ext cx="430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25032" y="4718304"/>
            <a:ext cx="49071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Cyber Resilience Act, Regulation (EU) 2024/2847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Commission CRA guidance, July 2026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Data Protection Act 2023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NDPC General Application and Implementation Directive 2025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4.0 · ISO/IEC 27001 · SOC 2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5998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3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Prof. Etemi Joshua Garba  ·  Abuja, Nigeria  ·  September 2026.  Figures are current as at the date of preparation; verify against the primary source before quoting in an audit or a contract.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13130</Words>
  <Application>Microsoft Office PowerPoint</Application>
  <PresentationFormat>Widescreen</PresentationFormat>
  <Paragraphs>1445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Abuja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Practical, Professional Software Testing &amp; Evaluation</dc:title>
  <dc:subject>Security-first testing for enterprise-grade software</dc:subject>
  <dc:creator>Prof. Etemi Joshua Garba</dc:creator>
  <cp:lastModifiedBy>Etemi Garba</cp:lastModifiedBy>
  <cp:revision>3</cp:revision>
  <dcterms:created xsi:type="dcterms:W3CDTF">2026-09-07T14:54:07Z</dcterms:created>
  <dcterms:modified xsi:type="dcterms:W3CDTF">2026-09-08T21:22:14Z</dcterms:modified>
</cp:coreProperties>
</file>